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8" r:id="rId3"/>
    <p:sldId id="259" r:id="rId4"/>
    <p:sldId id="261" r:id="rId5"/>
    <p:sldId id="262" r:id="rId6"/>
    <p:sldId id="263" r:id="rId7"/>
    <p:sldId id="265" r:id="rId8"/>
    <p:sldId id="272" r:id="rId9"/>
    <p:sldId id="273" r:id="rId10"/>
    <p:sldId id="277" r:id="rId11"/>
  </p:sldIdLst>
  <p:sldSz cx="12192000" cy="6858000"/>
  <p:notesSz cx="6858000" cy="12192000"/>
  <p:embeddedFontLst>
    <p:embeddedFont>
      <p:font typeface="IBM Plex Sans" panose="020B0503050203000203" pitchFamily="34" charset="0"/>
      <p:regular r:id="rId13"/>
      <p:bold r:id="rId14"/>
    </p:embeddedFont>
    <p:embeddedFont>
      <p:font typeface="JetBrains Mono" panose="020B0604020202020204"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4779" autoAdjust="0"/>
    <p:restoredTop sz="94610"/>
  </p:normalViewPr>
  <p:slideViewPr>
    <p:cSldViewPr snapToGrid="0" snapToObjects="1">
      <p:cViewPr varScale="1">
        <p:scale>
          <a:sx n="66" d="100"/>
          <a:sy n="66" d="100"/>
        </p:scale>
        <p:origin x="90"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4280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 will cover two things: what I learned about Playwright, and how I applied it in the capstone, an enterprise-grade automation framework for an online retail platform. I will explain the design decisions as if presenting to a client, so interrupt me with questions at any point.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Playwright rather than older tools? Auto-waiting removes most of the sleeps that make UI tests flaky. One suite runs on Chromium, Firefox and WebKit. Contexts are isolated, so tests run in parallel safely. The Trace Viewer makes failures debuggable after the fact, and network routing lets us control what the app sees. Everything is TypeScript-friendly, which suits a shared team codebase.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summary of my learning path. Each concept maps to something I use in the capstone: locators drive the page objects, web-first assertions replace waits, fixtures remove setup duplication, projects give cross-browser execution, the Trace Viewer is my debugging tool, and routing gives me control over the network. Walk through one or two rows with a quick example from your own practice.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buckets from the brief. Functional coverage is the business flows. Advanced Playwright is the engineering toolkit. Modern practices is where we go beyond functional checks: accessibility, visual validation and responsible use of AI. The deliverables are source code with reports, five to eight automated tests, a README and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structure the brief expects, and each folder has one job. When a new teammate joins, they should know where a locator, a test, a data file or a helper belongs without asking. The separation is what makes the framework easy for several people to maintain.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Dependencies flow in one direction. Tests call fixtures, fixtures build page objects, and page objects rely on shared support code. Because of this, a UI change usually means editing one page object, and an environment change means editing one config file. That is the maintainability argument for the client.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locator ladder I follow and can defend. Role-based locators first because they mirror user behavior and double as an accessibility check. Labels for form fields. Test ids when nothing else is stable; the practice site exposes data-qa attributes, so I configured testIdAttribute accordingly (verify this against the pages you automated). CSS and XPath only as a scoped last resort.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tests, which sits inside the five to eight the brief asks for. Each one maps to a requirement: the functional flows first, then the accessibility and visual checks. Edit this list so it matches the tests in your repository, and be ready to explain why you chose these as the critical journeys.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answers the client's need for clear results. Every run writes an HTML report with screenshots for failures and traces on retry. My debugging routine is on the right: start from the report, open the trace to see the page state before and after each action, then reproduce with the inspector or UI mode. Consider showing a real failing trace live if the setting allows.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Good topics to be ready for: why role-based locators, how you handle flaky tests, what you would automate next, and how AI output was reviewed.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1B2420"/>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361"/>
            <a:ext cx="10566400" cy="4109839"/>
          </a:xfrm>
          <a:prstGeom prst="rect">
            <a:avLst/>
          </a:prstGeom>
          <a:noFill/>
          <a:ln/>
        </p:spPr>
        <p:txBody>
          <a:bodyPr wrap="square" lIns="0" tIns="0" rIns="0" bIns="0" rtlCol="0" anchor="t"/>
          <a:lstStyle>
            <a:lvl1pPr marL="0" indent="0" algn="l">
              <a:lnSpc>
                <a:spcPct val="140000"/>
              </a:lnSpc>
              <a:buNone/>
              <a:defRPr lang="en-US" sz="1600" dirty="0">
                <a:solidFill>
                  <a:srgbClr val="1B2420"/>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1B2420"/>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361"/>
            <a:ext cx="10566400" cy="4109839"/>
          </a:xfrm>
          <a:prstGeom prst="rect">
            <a:avLst/>
          </a:prstGeom>
          <a:noFill/>
          <a:ln/>
        </p:spPr>
        <p:txBody>
          <a:bodyPr wrap="square" lIns="0" tIns="0" rIns="0" bIns="0" rtlCol="0" anchor="t"/>
          <a:lstStyle>
            <a:lvl1pPr marL="0" indent="0" algn="l">
              <a:lnSpc>
                <a:spcPct val="140000"/>
              </a:lnSpc>
              <a:buNone/>
              <a:defRPr lang="en-US" sz="1600" dirty="0">
                <a:solidFill>
                  <a:srgbClr val="1B2420"/>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15"/>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4CC264"/>
          </a:solidFill>
          <a:ln/>
        </p:spPr>
        <p:txBody>
          <a:bodyPr/>
          <a:lstStyle/>
          <a:p>
            <a:endParaRPr lang="en-US"/>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CC264"/>
                </a:solidFill>
                <a:latin typeface="JetBrains Mono" pitchFamily="49" charset="0"/>
                <a:ea typeface="JetBrains Mono" pitchFamily="49" charset="-122"/>
                <a:cs typeface="JetBrains Mono" pitchFamily="49" charset="-120"/>
              </a:rPr>
              <a:t>PLAYWRIGHT CAPSTONE</a:t>
            </a:r>
            <a:endParaRPr lang="en-US" sz="1200" dirty="0"/>
          </a:p>
        </p:txBody>
      </p:sp>
      <p:sp>
        <p:nvSpPr>
          <p:cNvPr id="4" name="Text 2"/>
          <p:cNvSpPr>
            <a:spLocks noGrp="1"/>
          </p:cNvSpPr>
          <p:nvPr>
            <p:ph type="title"/>
          </p:nvPr>
        </p:nvSpPr>
        <p:spPr>
          <a:xfrm>
            <a:off x="812800" y="2496939"/>
            <a:ext cx="10883392" cy="1366441"/>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5F3EC"/>
                </a:solidFill>
                <a:latin typeface="IBM Plex Sans" pitchFamily="34" charset="0"/>
                <a:ea typeface="IBM Plex Sans" pitchFamily="34" charset="-122"/>
                <a:cs typeface="IBM Plex Sans" pitchFamily="34" charset="-120"/>
              </a:rPr>
              <a:t>Playwright Learnings and the Capstone Framework</a:t>
            </a:r>
            <a:endParaRPr lang="en-US" sz="4800" dirty="0"/>
          </a:p>
        </p:txBody>
      </p:sp>
      <p:sp>
        <p:nvSpPr>
          <p:cNvPr id="5" name="Text 3"/>
          <p:cNvSpPr/>
          <p:nvPr/>
        </p:nvSpPr>
        <p:spPr>
          <a:xfrm>
            <a:off x="812800" y="404118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9BDB5"/>
                </a:solidFill>
                <a:latin typeface="IBM Plex Sans" pitchFamily="34" charset="0"/>
                <a:ea typeface="IBM Plex Sans" pitchFamily="34" charset="-122"/>
                <a:cs typeface="IBM Plex Sans" pitchFamily="34" charset="-120"/>
              </a:rPr>
              <a:t>Building a scalable, maintainable test framework for an e-commerce platform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35"/>
                </a:solidFill>
                <a:latin typeface="JetBrains Mono" pitchFamily="49" charset="0"/>
                <a:ea typeface="JetBrains Mono" pitchFamily="49" charset="-122"/>
                <a:cs typeface="JetBrains Mono" pitchFamily="49" charset="-120"/>
              </a:rPr>
              <a:t>01 · PLAYWRIGHT IN BRIEF</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B2420"/>
                </a:solidFill>
                <a:latin typeface="IBM Plex Sans" pitchFamily="34" charset="0"/>
                <a:ea typeface="IBM Plex Sans" pitchFamily="34" charset="-122"/>
                <a:cs typeface="IBM Plex Sans" pitchFamily="34" charset="-120"/>
              </a:rPr>
              <a:t>Why Playwright</a:t>
            </a:r>
            <a:endParaRPr lang="en-US" sz="3600" dirty="0"/>
          </a:p>
        </p:txBody>
      </p:sp>
      <p:sp>
        <p:nvSpPr>
          <p:cNvPr id="4" name="Shape 2"/>
          <p:cNvSpPr/>
          <p:nvPr/>
        </p:nvSpPr>
        <p:spPr>
          <a:xfrm>
            <a:off x="815975" y="1887736"/>
            <a:ext cx="3414117" cy="1230412"/>
          </a:xfrm>
          <a:prstGeom prst="roundRect">
            <a:avLst>
              <a:gd name="adj" fmla="val 7999"/>
            </a:avLst>
          </a:prstGeom>
          <a:solidFill>
            <a:srgbClr val="FBFAF6"/>
          </a:solidFill>
          <a:ln w="6350">
            <a:solidFill>
              <a:srgbClr val="DAD7CB"/>
            </a:solidFill>
            <a:prstDash val="solid"/>
          </a:ln>
        </p:spPr>
        <p:txBody>
          <a:bodyPr/>
          <a:lstStyle/>
          <a:p>
            <a:endParaRPr lang="en-US"/>
          </a:p>
        </p:txBody>
      </p:sp>
      <p:sp>
        <p:nvSpPr>
          <p:cNvPr id="5" name="Text 3"/>
          <p:cNvSpPr/>
          <p:nvPr/>
        </p:nvSpPr>
        <p:spPr>
          <a:xfrm>
            <a:off x="1022350" y="2094111"/>
            <a:ext cx="30914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20"/>
                </a:solidFill>
                <a:latin typeface="IBM Plex Sans" pitchFamily="34" charset="0"/>
                <a:ea typeface="IBM Plex Sans" pitchFamily="34" charset="-122"/>
                <a:cs typeface="IBM Plex Sans" pitchFamily="34" charset="-120"/>
              </a:rPr>
              <a:t>Auto-waiting</a:t>
            </a:r>
            <a:endParaRPr lang="en-US" sz="1600" dirty="0"/>
          </a:p>
        </p:txBody>
      </p:sp>
      <p:sp>
        <p:nvSpPr>
          <p:cNvPr id="6" name="Text 4"/>
          <p:cNvSpPr/>
          <p:nvPr/>
        </p:nvSpPr>
        <p:spPr>
          <a:xfrm>
            <a:off x="1022350" y="2414091"/>
            <a:ext cx="309140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0"/>
                </a:solidFill>
                <a:latin typeface="IBM Plex Sans" pitchFamily="34" charset="0"/>
                <a:ea typeface="IBM Plex Sans" pitchFamily="34" charset="-122"/>
                <a:cs typeface="IBM Plex Sans" pitchFamily="34" charset="-120"/>
              </a:rPr>
              <a:t>Actions wait until elements are ready, so far fewer flaky sleeps.</a:t>
            </a:r>
            <a:endParaRPr lang="en-US" sz="1400" dirty="0"/>
          </a:p>
        </p:txBody>
      </p:sp>
      <p:sp>
        <p:nvSpPr>
          <p:cNvPr id="7" name="Shape 5"/>
          <p:cNvSpPr/>
          <p:nvPr/>
        </p:nvSpPr>
        <p:spPr>
          <a:xfrm>
            <a:off x="4388842" y="1887736"/>
            <a:ext cx="3414216" cy="1230412"/>
          </a:xfrm>
          <a:prstGeom prst="roundRect">
            <a:avLst>
              <a:gd name="adj" fmla="val 7999"/>
            </a:avLst>
          </a:prstGeom>
          <a:solidFill>
            <a:srgbClr val="FBFAF6"/>
          </a:solidFill>
          <a:ln w="6350">
            <a:solidFill>
              <a:srgbClr val="DAD7CB"/>
            </a:solidFill>
            <a:prstDash val="solid"/>
          </a:ln>
        </p:spPr>
        <p:txBody>
          <a:bodyPr/>
          <a:lstStyle/>
          <a:p>
            <a:endParaRPr lang="en-US"/>
          </a:p>
        </p:txBody>
      </p:sp>
      <p:sp>
        <p:nvSpPr>
          <p:cNvPr id="8" name="Text 6"/>
          <p:cNvSpPr/>
          <p:nvPr/>
        </p:nvSpPr>
        <p:spPr>
          <a:xfrm>
            <a:off x="4595217" y="2094111"/>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20"/>
                </a:solidFill>
                <a:latin typeface="IBM Plex Sans" pitchFamily="34" charset="0"/>
                <a:ea typeface="IBM Plex Sans" pitchFamily="34" charset="-122"/>
                <a:cs typeface="IBM Plex Sans" pitchFamily="34" charset="-120"/>
              </a:rPr>
              <a:t>Three engines</a:t>
            </a:r>
            <a:endParaRPr lang="en-US" sz="1600" dirty="0"/>
          </a:p>
        </p:txBody>
      </p:sp>
      <p:sp>
        <p:nvSpPr>
          <p:cNvPr id="9" name="Text 7"/>
          <p:cNvSpPr/>
          <p:nvPr/>
        </p:nvSpPr>
        <p:spPr>
          <a:xfrm>
            <a:off x="4595217" y="2414091"/>
            <a:ext cx="309151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0"/>
                </a:solidFill>
                <a:latin typeface="IBM Plex Sans" pitchFamily="34" charset="0"/>
                <a:ea typeface="IBM Plex Sans" pitchFamily="34" charset="-122"/>
                <a:cs typeface="IBM Plex Sans" pitchFamily="34" charset="-120"/>
              </a:rPr>
              <a:t>Chromium, Firefox and WebKit from one test suite.</a:t>
            </a:r>
            <a:endParaRPr lang="en-US" sz="1400" dirty="0"/>
          </a:p>
        </p:txBody>
      </p:sp>
      <p:sp>
        <p:nvSpPr>
          <p:cNvPr id="10" name="Shape 8"/>
          <p:cNvSpPr/>
          <p:nvPr/>
        </p:nvSpPr>
        <p:spPr>
          <a:xfrm>
            <a:off x="7961809" y="1887736"/>
            <a:ext cx="3414216" cy="1230412"/>
          </a:xfrm>
          <a:prstGeom prst="roundRect">
            <a:avLst>
              <a:gd name="adj" fmla="val 7999"/>
            </a:avLst>
          </a:prstGeom>
          <a:solidFill>
            <a:srgbClr val="FBFAF6"/>
          </a:solidFill>
          <a:ln w="6350">
            <a:solidFill>
              <a:srgbClr val="DAD7CB"/>
            </a:solidFill>
            <a:prstDash val="solid"/>
          </a:ln>
        </p:spPr>
        <p:txBody>
          <a:bodyPr/>
          <a:lstStyle/>
          <a:p>
            <a:endParaRPr lang="en-US"/>
          </a:p>
        </p:txBody>
      </p:sp>
      <p:sp>
        <p:nvSpPr>
          <p:cNvPr id="11" name="Text 9"/>
          <p:cNvSpPr/>
          <p:nvPr/>
        </p:nvSpPr>
        <p:spPr>
          <a:xfrm>
            <a:off x="8168184" y="2094111"/>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20"/>
                </a:solidFill>
                <a:latin typeface="IBM Plex Sans" pitchFamily="34" charset="0"/>
                <a:ea typeface="IBM Plex Sans" pitchFamily="34" charset="-122"/>
                <a:cs typeface="IBM Plex Sans" pitchFamily="34" charset="-120"/>
              </a:rPr>
              <a:t>Parallel by default</a:t>
            </a:r>
            <a:endParaRPr lang="en-US" sz="1600" dirty="0"/>
          </a:p>
        </p:txBody>
      </p:sp>
      <p:sp>
        <p:nvSpPr>
          <p:cNvPr id="12" name="Text 10"/>
          <p:cNvSpPr/>
          <p:nvPr/>
        </p:nvSpPr>
        <p:spPr>
          <a:xfrm>
            <a:off x="8168184" y="2414091"/>
            <a:ext cx="309151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0"/>
                </a:solidFill>
                <a:latin typeface="IBM Plex Sans" pitchFamily="34" charset="0"/>
                <a:ea typeface="IBM Plex Sans" pitchFamily="34" charset="-122"/>
                <a:cs typeface="IBM Plex Sans" pitchFamily="34" charset="-120"/>
              </a:rPr>
              <a:t>Isolated browser contexts run across workers.</a:t>
            </a:r>
            <a:endParaRPr lang="en-US" sz="1400" dirty="0"/>
          </a:p>
        </p:txBody>
      </p:sp>
      <p:sp>
        <p:nvSpPr>
          <p:cNvPr id="13" name="Shape 11"/>
          <p:cNvSpPr/>
          <p:nvPr/>
        </p:nvSpPr>
        <p:spPr>
          <a:xfrm>
            <a:off x="815975" y="3276898"/>
            <a:ext cx="3414117" cy="1230412"/>
          </a:xfrm>
          <a:prstGeom prst="roundRect">
            <a:avLst>
              <a:gd name="adj" fmla="val 7999"/>
            </a:avLst>
          </a:prstGeom>
          <a:solidFill>
            <a:srgbClr val="FBFAF6"/>
          </a:solidFill>
          <a:ln w="6350">
            <a:solidFill>
              <a:srgbClr val="DAD7CB"/>
            </a:solidFill>
            <a:prstDash val="solid"/>
          </a:ln>
        </p:spPr>
        <p:txBody>
          <a:bodyPr/>
          <a:lstStyle/>
          <a:p>
            <a:endParaRPr lang="en-US"/>
          </a:p>
        </p:txBody>
      </p:sp>
      <p:sp>
        <p:nvSpPr>
          <p:cNvPr id="14" name="Text 12"/>
          <p:cNvSpPr/>
          <p:nvPr/>
        </p:nvSpPr>
        <p:spPr>
          <a:xfrm>
            <a:off x="1022350" y="3483273"/>
            <a:ext cx="30914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20"/>
                </a:solidFill>
                <a:latin typeface="IBM Plex Sans" pitchFamily="34" charset="0"/>
                <a:ea typeface="IBM Plex Sans" pitchFamily="34" charset="-122"/>
                <a:cs typeface="IBM Plex Sans" pitchFamily="34" charset="-120"/>
              </a:rPr>
              <a:t>Trace Viewer</a:t>
            </a:r>
            <a:endParaRPr lang="en-US" sz="1600" dirty="0"/>
          </a:p>
        </p:txBody>
      </p:sp>
      <p:sp>
        <p:nvSpPr>
          <p:cNvPr id="15" name="Text 13"/>
          <p:cNvSpPr/>
          <p:nvPr/>
        </p:nvSpPr>
        <p:spPr>
          <a:xfrm>
            <a:off x="1022350" y="3803253"/>
            <a:ext cx="309140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0"/>
                </a:solidFill>
                <a:latin typeface="IBM Plex Sans" pitchFamily="34" charset="0"/>
                <a:ea typeface="IBM Plex Sans" pitchFamily="34" charset="-122"/>
                <a:cs typeface="IBM Plex Sans" pitchFamily="34" charset="-120"/>
              </a:rPr>
              <a:t>Replay a failed run with DOM snapshots, network and console.</a:t>
            </a:r>
            <a:endParaRPr lang="en-US" sz="1400" dirty="0"/>
          </a:p>
        </p:txBody>
      </p:sp>
      <p:sp>
        <p:nvSpPr>
          <p:cNvPr id="16" name="Shape 14"/>
          <p:cNvSpPr/>
          <p:nvPr/>
        </p:nvSpPr>
        <p:spPr>
          <a:xfrm>
            <a:off x="4388842" y="3276898"/>
            <a:ext cx="3414216" cy="1230412"/>
          </a:xfrm>
          <a:prstGeom prst="roundRect">
            <a:avLst>
              <a:gd name="adj" fmla="val 7999"/>
            </a:avLst>
          </a:prstGeom>
          <a:solidFill>
            <a:srgbClr val="FBFAF6"/>
          </a:solidFill>
          <a:ln w="6350">
            <a:solidFill>
              <a:srgbClr val="DAD7CB"/>
            </a:solidFill>
            <a:prstDash val="solid"/>
          </a:ln>
        </p:spPr>
        <p:txBody>
          <a:bodyPr/>
          <a:lstStyle/>
          <a:p>
            <a:endParaRPr lang="en-US"/>
          </a:p>
        </p:txBody>
      </p:sp>
      <p:sp>
        <p:nvSpPr>
          <p:cNvPr id="17" name="Text 15"/>
          <p:cNvSpPr/>
          <p:nvPr/>
        </p:nvSpPr>
        <p:spPr>
          <a:xfrm>
            <a:off x="4595217" y="3483273"/>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20"/>
                </a:solidFill>
                <a:latin typeface="IBM Plex Sans" pitchFamily="34" charset="0"/>
                <a:ea typeface="IBM Plex Sans" pitchFamily="34" charset="-122"/>
                <a:cs typeface="IBM Plex Sans" pitchFamily="34" charset="-120"/>
              </a:rPr>
              <a:t>Network control</a:t>
            </a:r>
            <a:endParaRPr lang="en-US" sz="1600" dirty="0"/>
          </a:p>
        </p:txBody>
      </p:sp>
      <p:sp>
        <p:nvSpPr>
          <p:cNvPr id="18" name="Text 16"/>
          <p:cNvSpPr/>
          <p:nvPr/>
        </p:nvSpPr>
        <p:spPr>
          <a:xfrm>
            <a:off x="4595217" y="3803253"/>
            <a:ext cx="309151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0"/>
                </a:solidFill>
                <a:latin typeface="IBM Plex Sans" pitchFamily="34" charset="0"/>
                <a:ea typeface="IBM Plex Sans" pitchFamily="34" charset="-122"/>
                <a:cs typeface="IBM Plex Sans" pitchFamily="34" charset="-120"/>
              </a:rPr>
              <a:t>Intercept, mock and wait on requests with page.route.</a:t>
            </a:r>
            <a:endParaRPr lang="en-US" sz="1400" dirty="0"/>
          </a:p>
        </p:txBody>
      </p:sp>
      <p:sp>
        <p:nvSpPr>
          <p:cNvPr id="19" name="Shape 17"/>
          <p:cNvSpPr/>
          <p:nvPr/>
        </p:nvSpPr>
        <p:spPr>
          <a:xfrm>
            <a:off x="7961809" y="3276898"/>
            <a:ext cx="3414216" cy="1230412"/>
          </a:xfrm>
          <a:prstGeom prst="roundRect">
            <a:avLst>
              <a:gd name="adj" fmla="val 7999"/>
            </a:avLst>
          </a:prstGeom>
          <a:solidFill>
            <a:srgbClr val="FBFAF6"/>
          </a:solidFill>
          <a:ln w="6350">
            <a:solidFill>
              <a:srgbClr val="DAD7CB"/>
            </a:solidFill>
            <a:prstDash val="solid"/>
          </a:ln>
        </p:spPr>
        <p:txBody>
          <a:bodyPr/>
          <a:lstStyle/>
          <a:p>
            <a:endParaRPr lang="en-US"/>
          </a:p>
        </p:txBody>
      </p:sp>
      <p:sp>
        <p:nvSpPr>
          <p:cNvPr id="20" name="Text 18"/>
          <p:cNvSpPr/>
          <p:nvPr/>
        </p:nvSpPr>
        <p:spPr>
          <a:xfrm>
            <a:off x="8168184" y="3483273"/>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20"/>
                </a:solidFill>
                <a:latin typeface="IBM Plex Sans" pitchFamily="34" charset="0"/>
                <a:ea typeface="IBM Plex Sans" pitchFamily="34" charset="-122"/>
                <a:cs typeface="IBM Plex Sans" pitchFamily="34" charset="-120"/>
              </a:rPr>
              <a:t>TypeScript first</a:t>
            </a:r>
            <a:endParaRPr lang="en-US" sz="1600" dirty="0"/>
          </a:p>
        </p:txBody>
      </p:sp>
      <p:sp>
        <p:nvSpPr>
          <p:cNvPr id="21" name="Text 19"/>
          <p:cNvSpPr/>
          <p:nvPr/>
        </p:nvSpPr>
        <p:spPr>
          <a:xfrm>
            <a:off x="8168184" y="3803253"/>
            <a:ext cx="309151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0"/>
                </a:solidFill>
                <a:latin typeface="IBM Plex Sans" pitchFamily="34" charset="0"/>
                <a:ea typeface="IBM Plex Sans" pitchFamily="34" charset="-122"/>
                <a:cs typeface="IBM Plex Sans" pitchFamily="34" charset="-120"/>
              </a:rPr>
              <a:t>Typed APIs, a built-in test runner and strong IDE support.</a:t>
            </a:r>
            <a:endParaRPr lang="en-US" sz="14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60"/>
                </a:solidFill>
                <a:latin typeface="IBM Plex Sans" pitchFamily="34" charset="0"/>
                <a:ea typeface="IBM Plex Sans" pitchFamily="34" charset="-122"/>
                <a:cs typeface="IBM Plex Sans" pitchFamily="34" charset="-120"/>
              </a:rPr>
              <a:t>Playwright Capstone · 03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35"/>
                </a:solidFill>
                <a:latin typeface="JetBrains Mono" pitchFamily="49" charset="0"/>
                <a:ea typeface="JetBrains Mono" pitchFamily="49" charset="-122"/>
                <a:cs typeface="JetBrains Mono" pitchFamily="49" charset="-120"/>
              </a:rPr>
              <a:t>01 · PLAYWRIGHT IN BRIEF</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B2420"/>
                </a:solidFill>
                <a:latin typeface="IBM Plex Sans" pitchFamily="34" charset="0"/>
                <a:ea typeface="IBM Plex Sans" pitchFamily="34" charset="-122"/>
                <a:cs typeface="IBM Plex Sans" pitchFamily="34" charset="-120"/>
              </a:rPr>
              <a:t>Core concepts I learned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261"/>
          <a:ext cx="10553700" cy="2701727"/>
        </p:xfrm>
        <a:graphic>
          <a:graphicData uri="http://schemas.openxmlformats.org/drawingml/2006/table">
            <a:tbl>
              <a:tblPr/>
              <a:tblGrid>
                <a:gridCol w="2743962">
                  <a:extLst>
                    <a:ext uri="{9D8B030D-6E8A-4147-A177-3AD203B41FA5}">
                      <a16:colId xmlns:a16="http://schemas.microsoft.com/office/drawing/2014/main" val="20000"/>
                    </a:ext>
                  </a:extLst>
                </a:gridCol>
                <a:gridCol w="4432554">
                  <a:extLst>
                    <a:ext uri="{9D8B030D-6E8A-4147-A177-3AD203B41FA5}">
                      <a16:colId xmlns:a16="http://schemas.microsoft.com/office/drawing/2014/main" val="20001"/>
                    </a:ext>
                  </a:extLst>
                </a:gridCol>
                <a:gridCol w="3377184">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5F3EC"/>
                          </a:solidFill>
                          <a:latin typeface="IBM Plex Sans" pitchFamily="34" charset="0"/>
                          <a:ea typeface="IBM Plex Sans" pitchFamily="34" charset="-122"/>
                          <a:cs typeface="IBM Plex Sans" pitchFamily="34" charset="-120"/>
                        </a:rPr>
                        <a:t>Concept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19201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9201D"/>
                      </a:solidFill>
                      <a:prstDash val="solid"/>
                      <a:round/>
                      <a:headEnd type="none" w="med" len="med"/>
                      <a:tailEnd type="none" w="med" len="med"/>
                    </a:lnB>
                    <a:solidFill>
                      <a:srgbClr val="1B2420"/>
                    </a:solidFill>
                  </a:tcPr>
                </a:tc>
                <a:tc>
                  <a:txBody>
                    <a:bodyPr/>
                    <a:lstStyle/>
                    <a:p>
                      <a:pPr marL="0" indent="0">
                        <a:lnSpc>
                          <a:spcPts val="1960"/>
                        </a:lnSpc>
                        <a:buNone/>
                      </a:pPr>
                      <a:r>
                        <a:rPr lang="en-US" sz="1400" b="1" dirty="0">
                          <a:solidFill>
                            <a:srgbClr val="F5F3EC"/>
                          </a:solidFill>
                          <a:latin typeface="IBM Plex Sans" pitchFamily="34" charset="0"/>
                          <a:ea typeface="IBM Plex Sans" pitchFamily="34" charset="-122"/>
                          <a:cs typeface="IBM Plex Sans" pitchFamily="34" charset="-120"/>
                        </a:rPr>
                        <a:t>What I learned</a:t>
                      </a:r>
                      <a:endParaRPr lang="en-US" sz="1400" dirty="0">
                        <a:latin typeface="IBM Plex Sans" charset="0"/>
                        <a:ea typeface="IBM Plex Sans" charset="0"/>
                        <a:cs typeface="IBM Plex Sans" charset="0"/>
                      </a:endParaRPr>
                    </a:p>
                  </a:txBody>
                  <a:tcPr marL="62230" marR="62230" marT="62230" marB="62230">
                    <a:lnL w="12700" cap="flat" cmpd="sng" algn="ctr">
                      <a:solidFill>
                        <a:srgbClr val="19201D"/>
                      </a:solidFill>
                      <a:prstDash val="solid"/>
                      <a:round/>
                      <a:headEnd type="none" w="med" len="med"/>
                      <a:tailEnd type="none" w="med" len="med"/>
                    </a:lnL>
                    <a:lnR w="12700" cap="flat" cmpd="sng" algn="ctr">
                      <a:solidFill>
                        <a:srgbClr val="19201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9201D"/>
                      </a:solidFill>
                      <a:prstDash val="solid"/>
                      <a:round/>
                      <a:headEnd type="none" w="med" len="med"/>
                      <a:tailEnd type="none" w="med" len="med"/>
                    </a:lnB>
                    <a:solidFill>
                      <a:srgbClr val="1B2420"/>
                    </a:solidFill>
                  </a:tcPr>
                </a:tc>
                <a:tc>
                  <a:txBody>
                    <a:bodyPr/>
                    <a:lstStyle/>
                    <a:p>
                      <a:pPr marL="0" indent="0">
                        <a:lnSpc>
                          <a:spcPts val="1960"/>
                        </a:lnSpc>
                        <a:buNone/>
                      </a:pPr>
                      <a:r>
                        <a:rPr lang="en-US" sz="1400" b="1" dirty="0">
                          <a:solidFill>
                            <a:srgbClr val="F5F3EC"/>
                          </a:solidFill>
                          <a:latin typeface="IBM Plex Sans" pitchFamily="34" charset="0"/>
                          <a:ea typeface="IBM Plex Sans" pitchFamily="34" charset="-122"/>
                          <a:cs typeface="IBM Plex Sans" pitchFamily="34" charset="-120"/>
                        </a:rPr>
                        <a:t>Why it matters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19201D"/>
                      </a:solidFill>
                      <a:prstDash val="solid"/>
                      <a:round/>
                      <a:headEnd type="none" w="med" len="med"/>
                      <a:tailEnd type="none" w="med" len="med"/>
                    </a:lnL>
                    <a:lnR w="12700" cap="flat" cmpd="sng" algn="ctr">
                      <a:solidFill>
                        <a:srgbClr val="19201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9201D"/>
                      </a:solidFill>
                      <a:prstDash val="solid"/>
                      <a:round/>
                      <a:headEnd type="none" w="med" len="med"/>
                      <a:tailEnd type="none" w="med" len="med"/>
                    </a:lnB>
                    <a:solidFill>
                      <a:srgbClr val="1B2420"/>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Locators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9201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getByRole, getByLabel, getByTestId</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9201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Resilient to UI changes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9201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Web-first assertions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expect(locator) retries until true</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No manual waits</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Fixtures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Reusable setup injected into tests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Less duplication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Projects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One config, many browsers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Cross-browser runs</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Trace Viewer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Time-travel through failed steps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Faster debugging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Network routing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page.route to stub responses</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Stable, fast tests</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60"/>
                </a:solidFill>
                <a:latin typeface="IBM Plex Sans" pitchFamily="34" charset="0"/>
                <a:ea typeface="IBM Plex Sans" pitchFamily="34" charset="-122"/>
                <a:cs typeface="IBM Plex Sans" pitchFamily="34" charset="-120"/>
              </a:rPr>
              <a:t>Playwright Capstone · 04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35"/>
                </a:solidFill>
                <a:latin typeface="JetBrains Mono" pitchFamily="49" charset="0"/>
                <a:ea typeface="JetBrains Mono" pitchFamily="49" charset="-122"/>
                <a:cs typeface="JetBrains Mono" pitchFamily="49" charset="-120"/>
              </a:rPr>
              <a:t>02 · THE CAPSTONE</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B2420"/>
                </a:solidFill>
                <a:latin typeface="IBM Plex Sans" pitchFamily="34" charset="0"/>
                <a:ea typeface="IBM Plex Sans" pitchFamily="34" charset="-122"/>
                <a:cs typeface="IBM Plex Sans" pitchFamily="34" charset="-120"/>
              </a:rPr>
              <a:t>What the brief asks us to cover</a:t>
            </a:r>
            <a:endParaRPr lang="en-US" sz="3600" dirty="0"/>
          </a:p>
        </p:txBody>
      </p:sp>
      <p:sp>
        <p:nvSpPr>
          <p:cNvPr id="4" name="Shape 2"/>
          <p:cNvSpPr/>
          <p:nvPr/>
        </p:nvSpPr>
        <p:spPr>
          <a:xfrm>
            <a:off x="815975" y="1887736"/>
            <a:ext cx="3414117" cy="2327374"/>
          </a:xfrm>
          <a:prstGeom prst="roundRect">
            <a:avLst>
              <a:gd name="adj" fmla="val 4229"/>
            </a:avLst>
          </a:prstGeom>
          <a:solidFill>
            <a:srgbClr val="FBFAF6"/>
          </a:solidFill>
          <a:ln w="6350">
            <a:solidFill>
              <a:srgbClr val="DAD7CB"/>
            </a:solidFill>
            <a:prstDash val="solid"/>
          </a:ln>
        </p:spPr>
        <p:txBody>
          <a:bodyPr/>
          <a:lstStyle/>
          <a:p>
            <a:endParaRPr lang="en-US"/>
          </a:p>
        </p:txBody>
      </p:sp>
      <p:sp>
        <p:nvSpPr>
          <p:cNvPr id="5" name="Text 3"/>
          <p:cNvSpPr/>
          <p:nvPr/>
        </p:nvSpPr>
        <p:spPr>
          <a:xfrm>
            <a:off x="1047750" y="2119511"/>
            <a:ext cx="303908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7A35"/>
                </a:solidFill>
                <a:latin typeface="IBM Plex Sans" pitchFamily="34" charset="0"/>
                <a:ea typeface="IBM Plex Sans" pitchFamily="34" charset="-122"/>
                <a:cs typeface="IBM Plex Sans" pitchFamily="34" charset="-120"/>
              </a:rPr>
              <a:t>Functional coverage</a:t>
            </a:r>
            <a:endParaRPr lang="en-US" sz="1600" dirty="0"/>
          </a:p>
        </p:txBody>
      </p:sp>
      <p:sp>
        <p:nvSpPr>
          <p:cNvPr id="6" name="Text 4"/>
          <p:cNvSpPr/>
          <p:nvPr/>
        </p:nvSpPr>
        <p:spPr>
          <a:xfrm>
            <a:off x="1125982" y="2490291"/>
            <a:ext cx="2953232" cy="1269603"/>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1B2420"/>
                </a:solidFill>
                <a:latin typeface="IBM Plex Sans" pitchFamily="34" charset="0"/>
                <a:ea typeface="IBM Plex Sans" pitchFamily="34" charset="-122"/>
                <a:cs typeface="IBM Plex Sans" pitchFamily="34" charset="-120"/>
              </a:rPr>
              <a:t>Registration, login, logout</a:t>
            </a:r>
            <a:endParaRPr lang="en-US" sz="1400" dirty="0"/>
          </a:p>
          <a:p>
            <a:pPr marL="175768" indent="-175768" algn="l">
              <a:lnSpc>
                <a:spcPts val="1960"/>
              </a:lnSpc>
              <a:buSzPct val="100000"/>
              <a:buChar char="•"/>
            </a:pPr>
            <a:r>
              <a:rPr lang="en-US" sz="1400" dirty="0">
                <a:solidFill>
                  <a:srgbClr val="1B2420"/>
                </a:solidFill>
                <a:latin typeface="IBM Plex Sans" pitchFamily="34" charset="0"/>
                <a:ea typeface="IBM Plex Sans" pitchFamily="34" charset="-122"/>
                <a:cs typeface="IBM Plex Sans" pitchFamily="34" charset="-120"/>
              </a:rPr>
              <a:t>Product search, cart add and remove</a:t>
            </a:r>
            <a:endParaRPr lang="en-US" sz="1400" dirty="0"/>
          </a:p>
          <a:p>
            <a:pPr marL="175768" indent="-175768" algn="l">
              <a:lnSpc>
                <a:spcPts val="1960"/>
              </a:lnSpc>
              <a:buSzPct val="100000"/>
              <a:buChar char="•"/>
            </a:pPr>
            <a:r>
              <a:rPr lang="en-US" sz="1400" dirty="0">
                <a:solidFill>
                  <a:srgbClr val="1B2420"/>
                </a:solidFill>
                <a:latin typeface="IBM Plex Sans" pitchFamily="34" charset="0"/>
                <a:ea typeface="IBM Plex Sans" pitchFamily="34" charset="-122"/>
                <a:cs typeface="IBM Plex Sans" pitchFamily="34" charset="-120"/>
              </a:rPr>
              <a:t>Checkout and order placement</a:t>
            </a:r>
            <a:endParaRPr lang="en-US" sz="1400" dirty="0"/>
          </a:p>
          <a:p>
            <a:pPr marL="175768" indent="-175768" algn="l">
              <a:lnSpc>
                <a:spcPts val="1960"/>
              </a:lnSpc>
              <a:buSzPct val="100000"/>
              <a:buChar char="•"/>
            </a:pPr>
            <a:r>
              <a:rPr lang="en-US" sz="1400" dirty="0">
                <a:solidFill>
                  <a:srgbClr val="1B2420"/>
                </a:solidFill>
                <a:latin typeface="IBM Plex Sans" pitchFamily="34" charset="0"/>
                <a:ea typeface="IBM Plex Sans" pitchFamily="34" charset="-122"/>
                <a:cs typeface="IBM Plex Sans" pitchFamily="34" charset="-120"/>
              </a:rPr>
              <a:t>Contact Us form</a:t>
            </a:r>
            <a:endParaRPr lang="en-US" sz="1400" dirty="0"/>
          </a:p>
        </p:txBody>
      </p:sp>
      <p:sp>
        <p:nvSpPr>
          <p:cNvPr id="7" name="Shape 5"/>
          <p:cNvSpPr/>
          <p:nvPr/>
        </p:nvSpPr>
        <p:spPr>
          <a:xfrm>
            <a:off x="4388842" y="1887736"/>
            <a:ext cx="3414216" cy="2327374"/>
          </a:xfrm>
          <a:prstGeom prst="roundRect">
            <a:avLst>
              <a:gd name="adj" fmla="val 4229"/>
            </a:avLst>
          </a:prstGeom>
          <a:solidFill>
            <a:srgbClr val="FBFAF6"/>
          </a:solidFill>
          <a:ln w="6350">
            <a:solidFill>
              <a:srgbClr val="DAD7CB"/>
            </a:solidFill>
            <a:prstDash val="solid"/>
          </a:ln>
        </p:spPr>
        <p:txBody>
          <a:bodyPr/>
          <a:lstStyle/>
          <a:p>
            <a:endParaRPr lang="en-US"/>
          </a:p>
        </p:txBody>
      </p:sp>
      <p:sp>
        <p:nvSpPr>
          <p:cNvPr id="8" name="Text 6"/>
          <p:cNvSpPr/>
          <p:nvPr/>
        </p:nvSpPr>
        <p:spPr>
          <a:xfrm>
            <a:off x="4620617" y="2119511"/>
            <a:ext cx="303918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7A35"/>
                </a:solidFill>
                <a:latin typeface="IBM Plex Sans" pitchFamily="34" charset="0"/>
                <a:ea typeface="IBM Plex Sans" pitchFamily="34" charset="-122"/>
                <a:cs typeface="IBM Plex Sans" pitchFamily="34" charset="-120"/>
              </a:rPr>
              <a:t>Advanced Playwright</a:t>
            </a:r>
            <a:endParaRPr lang="en-US" sz="1600" dirty="0"/>
          </a:p>
        </p:txBody>
      </p:sp>
      <p:sp>
        <p:nvSpPr>
          <p:cNvPr id="9" name="Text 7"/>
          <p:cNvSpPr/>
          <p:nvPr/>
        </p:nvSpPr>
        <p:spPr>
          <a:xfrm>
            <a:off x="4698849" y="2490291"/>
            <a:ext cx="2953334" cy="1518444"/>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1B2420"/>
                </a:solidFill>
                <a:latin typeface="IBM Plex Sans" pitchFamily="34" charset="0"/>
                <a:ea typeface="IBM Plex Sans" pitchFamily="34" charset="-122"/>
                <a:cs typeface="IBM Plex Sans" pitchFamily="34" charset="-120"/>
              </a:rPr>
              <a:t>Page Object Model</a:t>
            </a:r>
            <a:endParaRPr lang="en-US" sz="1400" dirty="0"/>
          </a:p>
          <a:p>
            <a:pPr marL="175768" indent="-175768" algn="l">
              <a:lnSpc>
                <a:spcPts val="1960"/>
              </a:lnSpc>
              <a:buSzPct val="100000"/>
              <a:buChar char="•"/>
            </a:pPr>
            <a:r>
              <a:rPr lang="en-US" sz="1400" dirty="0">
                <a:solidFill>
                  <a:srgbClr val="1B2420"/>
                </a:solidFill>
                <a:latin typeface="IBM Plex Sans" pitchFamily="34" charset="0"/>
                <a:ea typeface="IBM Plex Sans" pitchFamily="34" charset="-122"/>
                <a:cs typeface="IBM Plex Sans" pitchFamily="34" charset="-120"/>
              </a:rPr>
              <a:t>Custom fixtures</a:t>
            </a:r>
            <a:endParaRPr lang="en-US" sz="1400" dirty="0"/>
          </a:p>
          <a:p>
            <a:pPr marL="175768" indent="-175768" algn="l">
              <a:lnSpc>
                <a:spcPts val="1960"/>
              </a:lnSpc>
              <a:buSzPct val="100000"/>
              <a:buChar char="•"/>
            </a:pPr>
            <a:r>
              <a:rPr lang="en-US" sz="1400" dirty="0">
                <a:solidFill>
                  <a:srgbClr val="1B2420"/>
                </a:solidFill>
                <a:latin typeface="IBM Plex Sans" pitchFamily="34" charset="0"/>
                <a:ea typeface="IBM Plex Sans" pitchFamily="34" charset="-122"/>
                <a:cs typeface="IBM Plex Sans" pitchFamily="34" charset="-120"/>
              </a:rPr>
              <a:t>Data-driven testing</a:t>
            </a:r>
            <a:endParaRPr lang="en-US" sz="1400" dirty="0"/>
          </a:p>
          <a:p>
            <a:pPr marL="175768" indent="-175768" algn="l">
              <a:lnSpc>
                <a:spcPts val="1960"/>
              </a:lnSpc>
              <a:buSzPct val="100000"/>
              <a:buChar char="•"/>
            </a:pPr>
            <a:r>
              <a:rPr lang="en-US" sz="1400" dirty="0">
                <a:solidFill>
                  <a:srgbClr val="1B2420"/>
                </a:solidFill>
                <a:latin typeface="IBM Plex Sans" pitchFamily="34" charset="0"/>
                <a:ea typeface="IBM Plex Sans" pitchFamily="34" charset="-122"/>
                <a:cs typeface="IBM Plex Sans" pitchFamily="34" charset="-120"/>
              </a:rPr>
              <a:t>Network mocking</a:t>
            </a:r>
            <a:endParaRPr lang="en-US" sz="1400" dirty="0"/>
          </a:p>
          <a:p>
            <a:pPr marL="175768" indent="-175768" algn="l">
              <a:lnSpc>
                <a:spcPts val="1960"/>
              </a:lnSpc>
              <a:buSzPct val="100000"/>
              <a:buChar char="•"/>
            </a:pPr>
            <a:r>
              <a:rPr lang="en-US" sz="1400" dirty="0">
                <a:solidFill>
                  <a:srgbClr val="1B2420"/>
                </a:solidFill>
                <a:latin typeface="IBM Plex Sans" pitchFamily="34" charset="0"/>
                <a:ea typeface="IBM Plex Sans" pitchFamily="34" charset="-122"/>
                <a:cs typeface="IBM Plex Sans" pitchFamily="34" charset="-120"/>
              </a:rPr>
              <a:t>Trace Viewer debugging</a:t>
            </a:r>
            <a:endParaRPr lang="en-US" sz="1400" dirty="0"/>
          </a:p>
          <a:p>
            <a:pPr marL="175768" indent="-175768" algn="l">
              <a:lnSpc>
                <a:spcPts val="1960"/>
              </a:lnSpc>
              <a:buSzPct val="100000"/>
              <a:buChar char="•"/>
            </a:pPr>
            <a:r>
              <a:rPr lang="en-US" sz="1400" dirty="0">
                <a:solidFill>
                  <a:srgbClr val="1B2420"/>
                </a:solidFill>
                <a:latin typeface="IBM Plex Sans" pitchFamily="34" charset="0"/>
                <a:ea typeface="IBM Plex Sans" pitchFamily="34" charset="-122"/>
                <a:cs typeface="IBM Plex Sans" pitchFamily="34" charset="-120"/>
              </a:rPr>
              <a:t>Cross-browser runs</a:t>
            </a:r>
            <a:endParaRPr lang="en-US" sz="1400" dirty="0"/>
          </a:p>
        </p:txBody>
      </p:sp>
      <p:sp>
        <p:nvSpPr>
          <p:cNvPr id="10" name="Shape 8"/>
          <p:cNvSpPr/>
          <p:nvPr/>
        </p:nvSpPr>
        <p:spPr>
          <a:xfrm>
            <a:off x="7961809" y="1887736"/>
            <a:ext cx="3414216" cy="2327374"/>
          </a:xfrm>
          <a:prstGeom prst="roundRect">
            <a:avLst>
              <a:gd name="adj" fmla="val 4229"/>
            </a:avLst>
          </a:prstGeom>
          <a:solidFill>
            <a:srgbClr val="FBFAF6"/>
          </a:solidFill>
          <a:ln w="6350">
            <a:solidFill>
              <a:srgbClr val="DAD7CB"/>
            </a:solidFill>
            <a:prstDash val="solid"/>
          </a:ln>
        </p:spPr>
        <p:txBody>
          <a:bodyPr/>
          <a:lstStyle/>
          <a:p>
            <a:endParaRPr lang="en-US"/>
          </a:p>
        </p:txBody>
      </p:sp>
      <p:sp>
        <p:nvSpPr>
          <p:cNvPr id="11" name="Text 9"/>
          <p:cNvSpPr/>
          <p:nvPr/>
        </p:nvSpPr>
        <p:spPr>
          <a:xfrm>
            <a:off x="8193584" y="2119511"/>
            <a:ext cx="303918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7A35"/>
                </a:solidFill>
                <a:latin typeface="IBM Plex Sans" pitchFamily="34" charset="0"/>
                <a:ea typeface="IBM Plex Sans" pitchFamily="34" charset="-122"/>
                <a:cs typeface="IBM Plex Sans" pitchFamily="34" charset="-120"/>
              </a:rPr>
              <a:t>Modern practices</a:t>
            </a:r>
            <a:endParaRPr lang="en-US" sz="1600" dirty="0"/>
          </a:p>
        </p:txBody>
      </p:sp>
      <p:sp>
        <p:nvSpPr>
          <p:cNvPr id="12" name="Text 10"/>
          <p:cNvSpPr/>
          <p:nvPr/>
        </p:nvSpPr>
        <p:spPr>
          <a:xfrm>
            <a:off x="8271816" y="2490291"/>
            <a:ext cx="2953334" cy="1020763"/>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1B2420"/>
                </a:solidFill>
                <a:latin typeface="IBM Plex Sans" pitchFamily="34" charset="0"/>
                <a:ea typeface="IBM Plex Sans" pitchFamily="34" charset="-122"/>
                <a:cs typeface="IBM Plex Sans" pitchFamily="34" charset="-120"/>
              </a:rPr>
              <a:t>Accessibility with axe-core</a:t>
            </a:r>
            <a:endParaRPr lang="en-US" sz="1400" dirty="0"/>
          </a:p>
          <a:p>
            <a:pPr marL="175768" indent="-175768" algn="l">
              <a:lnSpc>
                <a:spcPts val="1960"/>
              </a:lnSpc>
              <a:buSzPct val="100000"/>
              <a:buChar char="•"/>
            </a:pPr>
            <a:r>
              <a:rPr lang="en-US" sz="1400" dirty="0">
                <a:solidFill>
                  <a:srgbClr val="1B2420"/>
                </a:solidFill>
                <a:latin typeface="IBM Plex Sans" pitchFamily="34" charset="0"/>
                <a:ea typeface="IBM Plex Sans" pitchFamily="34" charset="-122"/>
                <a:cs typeface="IBM Plex Sans" pitchFamily="34" charset="-120"/>
              </a:rPr>
              <a:t>Visual regression</a:t>
            </a:r>
            <a:endParaRPr lang="en-US" sz="1400" dirty="0"/>
          </a:p>
          <a:p>
            <a:pPr marL="175768" indent="-175768" algn="l">
              <a:lnSpc>
                <a:spcPts val="1960"/>
              </a:lnSpc>
              <a:buSzPct val="100000"/>
              <a:buChar char="•"/>
            </a:pPr>
            <a:r>
              <a:rPr lang="en-US" sz="1400" dirty="0">
                <a:solidFill>
                  <a:srgbClr val="1B2420"/>
                </a:solidFill>
                <a:latin typeface="IBM Plex Sans" pitchFamily="34" charset="0"/>
                <a:ea typeface="IBM Plex Sans" pitchFamily="34" charset="-122"/>
                <a:cs typeface="IBM Plex Sans" pitchFamily="34" charset="-120"/>
              </a:rPr>
              <a:t>AI-assisted test creation</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60"/>
                </a:solidFill>
                <a:latin typeface="IBM Plex Sans" pitchFamily="34" charset="0"/>
                <a:ea typeface="IBM Plex Sans" pitchFamily="34" charset="-122"/>
                <a:cs typeface="IBM Plex Sans" pitchFamily="34" charset="-120"/>
              </a:rPr>
              <a:t>Playwright Capstone · 06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10181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CC264"/>
                </a:solidFill>
                <a:latin typeface="JetBrains Mono" pitchFamily="49" charset="0"/>
                <a:ea typeface="JetBrains Mono" pitchFamily="49" charset="-122"/>
                <a:cs typeface="JetBrains Mono" pitchFamily="49" charset="-120"/>
              </a:rPr>
              <a:t>02 · THE CAPSTONE</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5F3EC"/>
                </a:solidFill>
                <a:latin typeface="IBM Plex Sans" pitchFamily="34" charset="0"/>
                <a:ea typeface="IBM Plex Sans" pitchFamily="34" charset="-122"/>
                <a:cs typeface="IBM Plex Sans" pitchFamily="34" charset="-120"/>
              </a:rPr>
              <a:t>Framework structure</a:t>
            </a:r>
            <a:endParaRPr lang="en-US" sz="3600" dirty="0"/>
          </a:p>
        </p:txBody>
      </p:sp>
      <p:sp>
        <p:nvSpPr>
          <p:cNvPr id="4" name="Shape 2"/>
          <p:cNvSpPr/>
          <p:nvPr/>
        </p:nvSpPr>
        <p:spPr>
          <a:xfrm>
            <a:off x="815975" y="1887736"/>
            <a:ext cx="4057650" cy="2855516"/>
          </a:xfrm>
          <a:prstGeom prst="roundRect">
            <a:avLst>
              <a:gd name="adj" fmla="val 3447"/>
            </a:avLst>
          </a:prstGeom>
          <a:solidFill>
            <a:srgbClr val="0A100E"/>
          </a:solidFill>
          <a:ln w="6350">
            <a:solidFill>
              <a:srgbClr val="2A3A34"/>
            </a:solidFill>
            <a:prstDash val="solid"/>
          </a:ln>
        </p:spPr>
        <p:txBody>
          <a:bodyPr/>
          <a:lstStyle/>
          <a:p>
            <a:endParaRPr lang="en-US"/>
          </a:p>
        </p:txBody>
      </p:sp>
      <p:sp>
        <p:nvSpPr>
          <p:cNvPr id="5" name="Text 3"/>
          <p:cNvSpPr/>
          <p:nvPr/>
        </p:nvSpPr>
        <p:spPr>
          <a:xfrm>
            <a:off x="1022350" y="2094111"/>
            <a:ext cx="3754247" cy="274241"/>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E7EDE9"/>
                </a:solidFill>
                <a:latin typeface="JetBrains Mono" pitchFamily="49" charset="0"/>
                <a:ea typeface="JetBrains Mono" pitchFamily="49" charset="-122"/>
                <a:cs typeface="JetBrains Mono" pitchFamily="49" charset="-120"/>
              </a:rPr>
              <a:t>pw-capstone/</a:t>
            </a:r>
            <a:endParaRPr lang="en-US" sz="1400" dirty="0"/>
          </a:p>
        </p:txBody>
      </p:sp>
      <p:sp>
        <p:nvSpPr>
          <p:cNvPr id="6" name="Text 4"/>
          <p:cNvSpPr/>
          <p:nvPr/>
        </p:nvSpPr>
        <p:spPr>
          <a:xfrm>
            <a:off x="1022350" y="2368352"/>
            <a:ext cx="3754247" cy="274241"/>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E7EDE9"/>
                </a:solidFill>
                <a:latin typeface="JetBrains Mono" pitchFamily="49" charset="0"/>
                <a:ea typeface="JetBrains Mono" pitchFamily="49" charset="-122"/>
                <a:cs typeface="JetBrains Mono" pitchFamily="49" charset="-120"/>
              </a:rPr>
              <a:t>├─ pages/</a:t>
            </a:r>
            <a:endParaRPr lang="en-US" sz="1400" dirty="0"/>
          </a:p>
        </p:txBody>
      </p:sp>
      <p:sp>
        <p:nvSpPr>
          <p:cNvPr id="7" name="Text 5"/>
          <p:cNvSpPr/>
          <p:nvPr/>
        </p:nvSpPr>
        <p:spPr>
          <a:xfrm>
            <a:off x="1022350" y="2642592"/>
            <a:ext cx="3754247" cy="274241"/>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E7EDE9"/>
                </a:solidFill>
                <a:latin typeface="JetBrains Mono" pitchFamily="49" charset="0"/>
                <a:ea typeface="JetBrains Mono" pitchFamily="49" charset="-122"/>
                <a:cs typeface="JetBrains Mono" pitchFamily="49" charset="-120"/>
              </a:rPr>
              <a:t>├─ fixtures/</a:t>
            </a:r>
            <a:endParaRPr lang="en-US" sz="1400" dirty="0"/>
          </a:p>
        </p:txBody>
      </p:sp>
      <p:sp>
        <p:nvSpPr>
          <p:cNvPr id="8" name="Text 6"/>
          <p:cNvSpPr/>
          <p:nvPr/>
        </p:nvSpPr>
        <p:spPr>
          <a:xfrm>
            <a:off x="1022350" y="2916833"/>
            <a:ext cx="3754247" cy="274241"/>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E7EDE9"/>
                </a:solidFill>
                <a:latin typeface="JetBrains Mono" pitchFamily="49" charset="0"/>
                <a:ea typeface="JetBrains Mono" pitchFamily="49" charset="-122"/>
                <a:cs typeface="JetBrains Mono" pitchFamily="49" charset="-120"/>
              </a:rPr>
              <a:t>├─ tests/</a:t>
            </a:r>
            <a:endParaRPr lang="en-US" sz="1400" dirty="0"/>
          </a:p>
        </p:txBody>
      </p:sp>
      <p:sp>
        <p:nvSpPr>
          <p:cNvPr id="9" name="Text 7"/>
          <p:cNvSpPr/>
          <p:nvPr/>
        </p:nvSpPr>
        <p:spPr>
          <a:xfrm>
            <a:off x="1022350" y="3191073"/>
            <a:ext cx="3754247" cy="274241"/>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E7EDE9"/>
                </a:solidFill>
                <a:latin typeface="JetBrains Mono" pitchFamily="49" charset="0"/>
                <a:ea typeface="JetBrains Mono" pitchFamily="49" charset="-122"/>
                <a:cs typeface="JetBrains Mono" pitchFamily="49" charset="-120"/>
              </a:rPr>
              <a:t>├─ utils/</a:t>
            </a:r>
            <a:endParaRPr lang="en-US" sz="1400" dirty="0"/>
          </a:p>
        </p:txBody>
      </p:sp>
      <p:sp>
        <p:nvSpPr>
          <p:cNvPr id="10" name="Text 8"/>
          <p:cNvSpPr/>
          <p:nvPr/>
        </p:nvSpPr>
        <p:spPr>
          <a:xfrm>
            <a:off x="1022350" y="3465314"/>
            <a:ext cx="3754247" cy="274241"/>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E7EDE9"/>
                </a:solidFill>
                <a:latin typeface="JetBrains Mono" pitchFamily="49" charset="0"/>
                <a:ea typeface="JetBrains Mono" pitchFamily="49" charset="-122"/>
                <a:cs typeface="JetBrains Mono" pitchFamily="49" charset="-120"/>
              </a:rPr>
              <a:t>├─ testdata/</a:t>
            </a:r>
            <a:endParaRPr lang="en-US" sz="1400" dirty="0"/>
          </a:p>
        </p:txBody>
      </p:sp>
      <p:sp>
        <p:nvSpPr>
          <p:cNvPr id="11" name="Text 9"/>
          <p:cNvSpPr/>
          <p:nvPr/>
        </p:nvSpPr>
        <p:spPr>
          <a:xfrm>
            <a:off x="1022350" y="3739555"/>
            <a:ext cx="3754247" cy="274241"/>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E7EDE9"/>
                </a:solidFill>
                <a:latin typeface="JetBrains Mono" pitchFamily="49" charset="0"/>
                <a:ea typeface="JetBrains Mono" pitchFamily="49" charset="-122"/>
                <a:cs typeface="JetBrains Mono" pitchFamily="49" charset="-120"/>
              </a:rPr>
              <a:t>├─ config/</a:t>
            </a:r>
            <a:endParaRPr lang="en-US" sz="1400" dirty="0"/>
          </a:p>
        </p:txBody>
      </p:sp>
      <p:sp>
        <p:nvSpPr>
          <p:cNvPr id="12" name="Text 10"/>
          <p:cNvSpPr/>
          <p:nvPr/>
        </p:nvSpPr>
        <p:spPr>
          <a:xfrm>
            <a:off x="1022350" y="4013795"/>
            <a:ext cx="3754247" cy="274241"/>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E7EDE9"/>
                </a:solidFill>
                <a:latin typeface="JetBrains Mono" pitchFamily="49" charset="0"/>
                <a:ea typeface="JetBrains Mono" pitchFamily="49" charset="-122"/>
                <a:cs typeface="JetBrains Mono" pitchFamily="49" charset="-120"/>
              </a:rPr>
              <a:t>├─ reports/</a:t>
            </a:r>
            <a:endParaRPr lang="en-US" sz="1400" dirty="0"/>
          </a:p>
        </p:txBody>
      </p:sp>
      <p:sp>
        <p:nvSpPr>
          <p:cNvPr id="13" name="Text 11"/>
          <p:cNvSpPr/>
          <p:nvPr/>
        </p:nvSpPr>
        <p:spPr>
          <a:xfrm>
            <a:off x="1022350" y="4288036"/>
            <a:ext cx="3754247" cy="274241"/>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E7EDE9"/>
                </a:solidFill>
                <a:latin typeface="JetBrains Mono" pitchFamily="49" charset="0"/>
                <a:ea typeface="JetBrains Mono" pitchFamily="49" charset="-122"/>
                <a:cs typeface="JetBrains Mono" pitchFamily="49" charset="-120"/>
              </a:rPr>
              <a:t>└─ playwright.config.ts</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295900" y="1897261"/>
          <a:ext cx="6083300" cy="3087688"/>
        </p:xfrm>
        <a:graphic>
          <a:graphicData uri="http://schemas.openxmlformats.org/drawingml/2006/table">
            <a:tbl>
              <a:tblPr/>
              <a:tblGrid>
                <a:gridCol w="1824990">
                  <a:extLst>
                    <a:ext uri="{9D8B030D-6E8A-4147-A177-3AD203B41FA5}">
                      <a16:colId xmlns:a16="http://schemas.microsoft.com/office/drawing/2014/main" val="20000"/>
                    </a:ext>
                  </a:extLst>
                </a:gridCol>
                <a:gridCol w="4258310">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F5F3EC"/>
                          </a:solidFill>
                          <a:latin typeface="IBM Plex Sans" pitchFamily="34" charset="0"/>
                          <a:ea typeface="IBM Plex Sans" pitchFamily="34" charset="-122"/>
                          <a:cs typeface="IBM Plex Sans" pitchFamily="34" charset="-120"/>
                        </a:rPr>
                        <a:t>Folder</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46"/>
                      </a:solidFill>
                      <a:prstDash val="solid"/>
                      <a:round/>
                      <a:headEnd type="none" w="med" len="med"/>
                      <a:tailEnd type="none" w="med" len="med"/>
                    </a:lnL>
                    <a:lnR w="12700" cap="flat" cmpd="sng" algn="ctr">
                      <a:solidFill>
                        <a:srgbClr val="58645E"/>
                      </a:solidFill>
                      <a:prstDash val="solid"/>
                      <a:round/>
                      <a:headEnd type="none" w="med" len="med"/>
                      <a:tailEnd type="none" w="med" len="med"/>
                    </a:lnR>
                    <a:lnT w="12700" cap="flat" cmpd="sng" algn="ctr">
                      <a:solidFill>
                        <a:srgbClr val="434A46"/>
                      </a:solidFill>
                      <a:prstDash val="solid"/>
                      <a:round/>
                      <a:headEnd type="none" w="med" len="med"/>
                      <a:tailEnd type="none" w="med" len="med"/>
                    </a:lnT>
                    <a:lnB w="12700" cap="flat" cmpd="sng" algn="ctr">
                      <a:solidFill>
                        <a:srgbClr val="58645E"/>
                      </a:solidFill>
                      <a:prstDash val="solid"/>
                      <a:round/>
                      <a:headEnd type="none" w="med" len="med"/>
                      <a:tailEnd type="none" w="med" len="med"/>
                    </a:lnB>
                    <a:solidFill>
                      <a:srgbClr val="2A3A34"/>
                    </a:solidFill>
                  </a:tcPr>
                </a:tc>
                <a:tc>
                  <a:txBody>
                    <a:bodyPr/>
                    <a:lstStyle/>
                    <a:p>
                      <a:pPr marL="0" indent="0">
                        <a:lnSpc>
                          <a:spcPts val="1960"/>
                        </a:lnSpc>
                        <a:buNone/>
                      </a:pPr>
                      <a:r>
                        <a:rPr lang="en-US" sz="1400" b="1" dirty="0">
                          <a:solidFill>
                            <a:srgbClr val="F5F3EC"/>
                          </a:solidFill>
                          <a:latin typeface="IBM Plex Sans" pitchFamily="34" charset="0"/>
                          <a:ea typeface="IBM Plex Sans" pitchFamily="34" charset="-122"/>
                          <a:cs typeface="IBM Plex Sans" pitchFamily="34" charset="-120"/>
                        </a:rPr>
                        <a:t>Responsibility</a:t>
                      </a:r>
                      <a:endParaRPr lang="en-US" sz="1400" dirty="0">
                        <a:latin typeface="IBM Plex Sans" charset="0"/>
                        <a:ea typeface="IBM Plex Sans" charset="0"/>
                        <a:cs typeface="IBM Plex Sans" charset="0"/>
                      </a:endParaRPr>
                    </a:p>
                  </a:txBody>
                  <a:tcPr marL="62230" marR="62230" marT="62230" marB="62230">
                    <a:lnL w="12700" cap="flat" cmpd="sng" algn="ctr">
                      <a:solidFill>
                        <a:srgbClr val="58645E"/>
                      </a:solidFill>
                      <a:prstDash val="solid"/>
                      <a:round/>
                      <a:headEnd type="none" w="med" len="med"/>
                      <a:tailEnd type="none" w="med" len="med"/>
                    </a:lnL>
                    <a:lnR w="12700" cap="flat" cmpd="sng" algn="ctr">
                      <a:solidFill>
                        <a:srgbClr val="58645E"/>
                      </a:solidFill>
                      <a:prstDash val="solid"/>
                      <a:round/>
                      <a:headEnd type="none" w="med" len="med"/>
                      <a:tailEnd type="none" w="med" len="med"/>
                    </a:lnR>
                    <a:lnT w="12700" cap="flat" cmpd="sng" algn="ctr">
                      <a:solidFill>
                        <a:srgbClr val="434A46"/>
                      </a:solidFill>
                      <a:prstDash val="solid"/>
                      <a:round/>
                      <a:headEnd type="none" w="med" len="med"/>
                      <a:tailEnd type="none" w="med" len="med"/>
                    </a:lnT>
                    <a:lnB w="12700" cap="flat" cmpd="sng" algn="ctr">
                      <a:solidFill>
                        <a:srgbClr val="58645E"/>
                      </a:solidFill>
                      <a:prstDash val="solid"/>
                      <a:round/>
                      <a:headEnd type="none" w="med" len="med"/>
                      <a:tailEnd type="none" w="med" len="med"/>
                    </a:lnB>
                    <a:solidFill>
                      <a:srgbClr val="2A3A34"/>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F5F3EC"/>
                          </a:solidFill>
                          <a:latin typeface="IBM Plex Sans" pitchFamily="34" charset="0"/>
                          <a:ea typeface="IBM Plex Sans" pitchFamily="34" charset="-122"/>
                          <a:cs typeface="IBM Plex Sans" pitchFamily="34" charset="-120"/>
                        </a:rPr>
                        <a:t>pages/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46"/>
                      </a:solidFill>
                      <a:prstDash val="solid"/>
                      <a:round/>
                      <a:headEnd type="none" w="med" len="med"/>
                      <a:tailEnd type="none" w="med" len="med"/>
                    </a:lnL>
                    <a:lnR w="12700" cap="flat" cmpd="sng" algn="ctr">
                      <a:solidFill>
                        <a:srgbClr val="4B5450"/>
                      </a:solidFill>
                      <a:prstDash val="solid"/>
                      <a:round/>
                      <a:headEnd type="none" w="med" len="med"/>
                      <a:tailEnd type="none" w="med" len="med"/>
                    </a:lnR>
                    <a:lnT w="12700" cap="flat" cmpd="sng" algn="ctr">
                      <a:solidFill>
                        <a:srgbClr val="58645E"/>
                      </a:solidFill>
                      <a:prstDash val="solid"/>
                      <a:round/>
                      <a:headEnd type="none" w="med" len="med"/>
                      <a:tailEnd type="none" w="med" len="med"/>
                    </a:lnT>
                    <a:lnB w="12700" cap="flat" cmpd="sng" algn="ctr">
                      <a:solidFill>
                        <a:srgbClr val="4B5450"/>
                      </a:solidFill>
                      <a:prstDash val="solid"/>
                      <a:round/>
                      <a:headEnd type="none" w="med" len="med"/>
                      <a:tailEnd type="none" w="med" len="med"/>
                    </a:lnB>
                    <a:solidFill>
                      <a:srgbClr val="1A2622"/>
                    </a:solidFill>
                  </a:tcPr>
                </a:tc>
                <a:tc>
                  <a:txBody>
                    <a:bodyPr/>
                    <a:lstStyle/>
                    <a:p>
                      <a:pPr marL="0" indent="0">
                        <a:lnSpc>
                          <a:spcPts val="1960"/>
                        </a:lnSpc>
                        <a:buNone/>
                      </a:pPr>
                      <a:r>
                        <a:rPr lang="en-US" sz="1400" dirty="0">
                          <a:solidFill>
                            <a:srgbClr val="F5F3EC"/>
                          </a:solidFill>
                          <a:latin typeface="IBM Plex Sans" pitchFamily="34" charset="0"/>
                          <a:ea typeface="IBM Plex Sans" pitchFamily="34" charset="-122"/>
                          <a:cs typeface="IBM Plex Sans" pitchFamily="34" charset="-120"/>
                        </a:rPr>
                        <a:t>Page objects: locators and actions</a:t>
                      </a:r>
                      <a:endParaRPr lang="en-US" sz="1400" dirty="0">
                        <a:latin typeface="IBM Plex Sans" charset="0"/>
                        <a:ea typeface="IBM Plex Sans" charset="0"/>
                        <a:cs typeface="IBM Plex Sans" charset="0"/>
                      </a:endParaRPr>
                    </a:p>
                  </a:txBody>
                  <a:tcPr marL="62230" marR="62230" marT="62230" marB="62230">
                    <a:lnL w="12700" cap="flat" cmpd="sng" algn="ctr">
                      <a:solidFill>
                        <a:srgbClr val="4B5450"/>
                      </a:solidFill>
                      <a:prstDash val="solid"/>
                      <a:round/>
                      <a:headEnd type="none" w="med" len="med"/>
                      <a:tailEnd type="none" w="med" len="med"/>
                    </a:lnL>
                    <a:lnR w="12700" cap="flat" cmpd="sng" algn="ctr">
                      <a:solidFill>
                        <a:srgbClr val="4B5450"/>
                      </a:solidFill>
                      <a:prstDash val="solid"/>
                      <a:round/>
                      <a:headEnd type="none" w="med" len="med"/>
                      <a:tailEnd type="none" w="med" len="med"/>
                    </a:lnR>
                    <a:lnT w="12700" cap="flat" cmpd="sng" algn="ctr">
                      <a:solidFill>
                        <a:srgbClr val="58645E"/>
                      </a:solidFill>
                      <a:prstDash val="solid"/>
                      <a:round/>
                      <a:headEnd type="none" w="med" len="med"/>
                      <a:tailEnd type="none" w="med" len="med"/>
                    </a:lnT>
                    <a:lnB w="12700" cap="flat" cmpd="sng" algn="ctr">
                      <a:solidFill>
                        <a:srgbClr val="4B5450"/>
                      </a:solidFill>
                      <a:prstDash val="solid"/>
                      <a:round/>
                      <a:headEnd type="none" w="med" len="med"/>
                      <a:tailEnd type="none" w="med" len="med"/>
                    </a:lnB>
                    <a:solidFill>
                      <a:srgbClr val="1A2622"/>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F5F3EC"/>
                          </a:solidFill>
                          <a:latin typeface="IBM Plex Sans" pitchFamily="34" charset="0"/>
                          <a:ea typeface="IBM Plex Sans" pitchFamily="34" charset="-122"/>
                          <a:cs typeface="IBM Plex Sans" pitchFamily="34" charset="-120"/>
                        </a:rPr>
                        <a:t>fixtures/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46"/>
                      </a:solidFill>
                      <a:prstDash val="solid"/>
                      <a:round/>
                      <a:headEnd type="none" w="med" len="med"/>
                      <a:tailEnd type="none" w="med" len="med"/>
                    </a:lnL>
                    <a:lnR w="12700" cap="flat" cmpd="sng" algn="ctr">
                      <a:solidFill>
                        <a:srgbClr val="474F4B"/>
                      </a:solidFill>
                      <a:prstDash val="solid"/>
                      <a:round/>
                      <a:headEnd type="none" w="med" len="med"/>
                      <a:tailEnd type="none" w="med" len="med"/>
                    </a:lnR>
                    <a:lnT w="12700" cap="flat" cmpd="sng" algn="ctr">
                      <a:solidFill>
                        <a:srgbClr val="4B5450"/>
                      </a:solidFill>
                      <a:prstDash val="solid"/>
                      <a:round/>
                      <a:headEnd type="none" w="med" len="med"/>
                      <a:tailEnd type="none" w="med" len="med"/>
                    </a:lnT>
                    <a:lnB w="12700" cap="flat" cmpd="sng" algn="ctr">
                      <a:solidFill>
                        <a:srgbClr val="474F4B"/>
                      </a:solidFill>
                      <a:prstDash val="solid"/>
                      <a:round/>
                      <a:headEnd type="none" w="med" len="med"/>
                      <a:tailEnd type="none" w="med" len="med"/>
                    </a:lnB>
                    <a:solidFill>
                      <a:srgbClr val="141F1B"/>
                    </a:solidFill>
                  </a:tcPr>
                </a:tc>
                <a:tc>
                  <a:txBody>
                    <a:bodyPr/>
                    <a:lstStyle/>
                    <a:p>
                      <a:pPr marL="0" indent="0">
                        <a:lnSpc>
                          <a:spcPts val="1960"/>
                        </a:lnSpc>
                        <a:buNone/>
                      </a:pPr>
                      <a:r>
                        <a:rPr lang="en-US" sz="1400" dirty="0">
                          <a:solidFill>
                            <a:srgbClr val="F5F3EC"/>
                          </a:solidFill>
                          <a:latin typeface="IBM Plex Sans" pitchFamily="34" charset="0"/>
                          <a:ea typeface="IBM Plex Sans" pitchFamily="34" charset="-122"/>
                          <a:cs typeface="IBM Plex Sans" pitchFamily="34" charset="-120"/>
                        </a:rPr>
                        <a:t>Fixtures that inject page objects</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F4B"/>
                      </a:solidFill>
                      <a:prstDash val="solid"/>
                      <a:round/>
                      <a:headEnd type="none" w="med" len="med"/>
                      <a:tailEnd type="none" w="med" len="med"/>
                    </a:lnL>
                    <a:lnR w="12700" cap="flat" cmpd="sng" algn="ctr">
                      <a:solidFill>
                        <a:srgbClr val="474F4B"/>
                      </a:solidFill>
                      <a:prstDash val="solid"/>
                      <a:round/>
                      <a:headEnd type="none" w="med" len="med"/>
                      <a:tailEnd type="none" w="med" len="med"/>
                    </a:lnR>
                    <a:lnT w="12700" cap="flat" cmpd="sng" algn="ctr">
                      <a:solidFill>
                        <a:srgbClr val="4B5450"/>
                      </a:solidFill>
                      <a:prstDash val="solid"/>
                      <a:round/>
                      <a:headEnd type="none" w="med" len="med"/>
                      <a:tailEnd type="none" w="med" len="med"/>
                    </a:lnT>
                    <a:lnB w="12700" cap="flat" cmpd="sng" algn="ctr">
                      <a:solidFill>
                        <a:srgbClr val="474F4B"/>
                      </a:solidFill>
                      <a:prstDash val="solid"/>
                      <a:round/>
                      <a:headEnd type="none" w="med" len="med"/>
                      <a:tailEnd type="none" w="med" len="med"/>
                    </a:lnB>
                    <a:solidFill>
                      <a:srgbClr val="141F1B"/>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F5F3EC"/>
                          </a:solidFill>
                          <a:latin typeface="IBM Plex Sans" pitchFamily="34" charset="0"/>
                          <a:ea typeface="IBM Plex Sans" pitchFamily="34" charset="-122"/>
                          <a:cs typeface="IBM Plex Sans" pitchFamily="34" charset="-120"/>
                        </a:rPr>
                        <a:t>tests/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46"/>
                      </a:solidFill>
                      <a:prstDash val="solid"/>
                      <a:round/>
                      <a:headEnd type="none" w="med" len="med"/>
                      <a:tailEnd type="none" w="med" len="med"/>
                    </a:lnL>
                    <a:lnR w="12700" cap="flat" cmpd="sng" algn="ctr">
                      <a:solidFill>
                        <a:srgbClr val="4B5450"/>
                      </a:solidFill>
                      <a:prstDash val="solid"/>
                      <a:round/>
                      <a:headEnd type="none" w="med" len="med"/>
                      <a:tailEnd type="none" w="med" len="med"/>
                    </a:lnR>
                    <a:lnT w="12700" cap="flat" cmpd="sng" algn="ctr">
                      <a:solidFill>
                        <a:srgbClr val="474F4B"/>
                      </a:solidFill>
                      <a:prstDash val="solid"/>
                      <a:round/>
                      <a:headEnd type="none" w="med" len="med"/>
                      <a:tailEnd type="none" w="med" len="med"/>
                    </a:lnT>
                    <a:lnB w="12700" cap="flat" cmpd="sng" algn="ctr">
                      <a:solidFill>
                        <a:srgbClr val="4B5450"/>
                      </a:solidFill>
                      <a:prstDash val="solid"/>
                      <a:round/>
                      <a:headEnd type="none" w="med" len="med"/>
                      <a:tailEnd type="none" w="med" len="med"/>
                    </a:lnB>
                    <a:solidFill>
                      <a:srgbClr val="1A2622"/>
                    </a:solidFill>
                  </a:tcPr>
                </a:tc>
                <a:tc>
                  <a:txBody>
                    <a:bodyPr/>
                    <a:lstStyle/>
                    <a:p>
                      <a:pPr marL="0" indent="0">
                        <a:lnSpc>
                          <a:spcPts val="1960"/>
                        </a:lnSpc>
                        <a:buNone/>
                      </a:pPr>
                      <a:r>
                        <a:rPr lang="en-US" sz="1400" dirty="0">
                          <a:solidFill>
                            <a:srgbClr val="F5F3EC"/>
                          </a:solidFill>
                          <a:latin typeface="IBM Plex Sans" pitchFamily="34" charset="0"/>
                          <a:ea typeface="IBM Plex Sans" pitchFamily="34" charset="-122"/>
                          <a:cs typeface="IBM Plex Sans" pitchFamily="34" charset="-120"/>
                        </a:rPr>
                        <a:t>Specs grouped by feature</a:t>
                      </a:r>
                      <a:endParaRPr lang="en-US" sz="1400" dirty="0">
                        <a:latin typeface="IBM Plex Sans" charset="0"/>
                        <a:ea typeface="IBM Plex Sans" charset="0"/>
                        <a:cs typeface="IBM Plex Sans" charset="0"/>
                      </a:endParaRPr>
                    </a:p>
                  </a:txBody>
                  <a:tcPr marL="62230" marR="62230" marT="62230" marB="62230">
                    <a:lnL w="12700" cap="flat" cmpd="sng" algn="ctr">
                      <a:solidFill>
                        <a:srgbClr val="4B5450"/>
                      </a:solidFill>
                      <a:prstDash val="solid"/>
                      <a:round/>
                      <a:headEnd type="none" w="med" len="med"/>
                      <a:tailEnd type="none" w="med" len="med"/>
                    </a:lnL>
                    <a:lnR w="12700" cap="flat" cmpd="sng" algn="ctr">
                      <a:solidFill>
                        <a:srgbClr val="4B5450"/>
                      </a:solidFill>
                      <a:prstDash val="solid"/>
                      <a:round/>
                      <a:headEnd type="none" w="med" len="med"/>
                      <a:tailEnd type="none" w="med" len="med"/>
                    </a:lnR>
                    <a:lnT w="12700" cap="flat" cmpd="sng" algn="ctr">
                      <a:solidFill>
                        <a:srgbClr val="474F4B"/>
                      </a:solidFill>
                      <a:prstDash val="solid"/>
                      <a:round/>
                      <a:headEnd type="none" w="med" len="med"/>
                      <a:tailEnd type="none" w="med" len="med"/>
                    </a:lnT>
                    <a:lnB w="12700" cap="flat" cmpd="sng" algn="ctr">
                      <a:solidFill>
                        <a:srgbClr val="4B5450"/>
                      </a:solidFill>
                      <a:prstDash val="solid"/>
                      <a:round/>
                      <a:headEnd type="none" w="med" len="med"/>
                      <a:tailEnd type="none" w="med" len="med"/>
                    </a:lnB>
                    <a:solidFill>
                      <a:srgbClr val="1A2622"/>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F5F3EC"/>
                          </a:solidFill>
                          <a:latin typeface="IBM Plex Sans" pitchFamily="34" charset="0"/>
                          <a:ea typeface="IBM Plex Sans" pitchFamily="34" charset="-122"/>
                          <a:cs typeface="IBM Plex Sans" pitchFamily="34" charset="-120"/>
                        </a:rPr>
                        <a:t>utils/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46"/>
                      </a:solidFill>
                      <a:prstDash val="solid"/>
                      <a:round/>
                      <a:headEnd type="none" w="med" len="med"/>
                      <a:tailEnd type="none" w="med" len="med"/>
                    </a:lnL>
                    <a:lnR w="12700" cap="flat" cmpd="sng" algn="ctr">
                      <a:solidFill>
                        <a:srgbClr val="474F4B"/>
                      </a:solidFill>
                      <a:prstDash val="solid"/>
                      <a:round/>
                      <a:headEnd type="none" w="med" len="med"/>
                      <a:tailEnd type="none" w="med" len="med"/>
                    </a:lnR>
                    <a:lnT w="12700" cap="flat" cmpd="sng" algn="ctr">
                      <a:solidFill>
                        <a:srgbClr val="4B5450"/>
                      </a:solidFill>
                      <a:prstDash val="solid"/>
                      <a:round/>
                      <a:headEnd type="none" w="med" len="med"/>
                      <a:tailEnd type="none" w="med" len="med"/>
                    </a:lnT>
                    <a:lnB w="12700" cap="flat" cmpd="sng" algn="ctr">
                      <a:solidFill>
                        <a:srgbClr val="474F4B"/>
                      </a:solidFill>
                      <a:prstDash val="solid"/>
                      <a:round/>
                      <a:headEnd type="none" w="med" len="med"/>
                      <a:tailEnd type="none" w="med" len="med"/>
                    </a:lnB>
                    <a:solidFill>
                      <a:srgbClr val="141F1B"/>
                    </a:solidFill>
                  </a:tcPr>
                </a:tc>
                <a:tc>
                  <a:txBody>
                    <a:bodyPr/>
                    <a:lstStyle/>
                    <a:p>
                      <a:pPr marL="0" indent="0">
                        <a:lnSpc>
                          <a:spcPts val="1960"/>
                        </a:lnSpc>
                        <a:buNone/>
                      </a:pPr>
                      <a:r>
                        <a:rPr lang="en-US" sz="1400" dirty="0">
                          <a:solidFill>
                            <a:srgbClr val="F5F3EC"/>
                          </a:solidFill>
                          <a:latin typeface="IBM Plex Sans" pitchFamily="34" charset="0"/>
                          <a:ea typeface="IBM Plex Sans" pitchFamily="34" charset="-122"/>
                          <a:cs typeface="IBM Plex Sans" pitchFamily="34" charset="-120"/>
                        </a:rPr>
                        <a:t>Helpers: data, API, a11y, waits</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F4B"/>
                      </a:solidFill>
                      <a:prstDash val="solid"/>
                      <a:round/>
                      <a:headEnd type="none" w="med" len="med"/>
                      <a:tailEnd type="none" w="med" len="med"/>
                    </a:lnL>
                    <a:lnR w="12700" cap="flat" cmpd="sng" algn="ctr">
                      <a:solidFill>
                        <a:srgbClr val="474F4B"/>
                      </a:solidFill>
                      <a:prstDash val="solid"/>
                      <a:round/>
                      <a:headEnd type="none" w="med" len="med"/>
                      <a:tailEnd type="none" w="med" len="med"/>
                    </a:lnR>
                    <a:lnT w="12700" cap="flat" cmpd="sng" algn="ctr">
                      <a:solidFill>
                        <a:srgbClr val="4B5450"/>
                      </a:solidFill>
                      <a:prstDash val="solid"/>
                      <a:round/>
                      <a:headEnd type="none" w="med" len="med"/>
                      <a:tailEnd type="none" w="med" len="med"/>
                    </a:lnT>
                    <a:lnB w="12700" cap="flat" cmpd="sng" algn="ctr">
                      <a:solidFill>
                        <a:srgbClr val="474F4B"/>
                      </a:solidFill>
                      <a:prstDash val="solid"/>
                      <a:round/>
                      <a:headEnd type="none" w="med" len="med"/>
                      <a:tailEnd type="none" w="med" len="med"/>
                    </a:lnB>
                    <a:solidFill>
                      <a:srgbClr val="141F1B"/>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F5F3EC"/>
                          </a:solidFill>
                          <a:latin typeface="IBM Plex Sans" pitchFamily="34" charset="0"/>
                          <a:ea typeface="IBM Plex Sans" pitchFamily="34" charset="-122"/>
                          <a:cs typeface="IBM Plex Sans" pitchFamily="34" charset="-120"/>
                        </a:rPr>
                        <a:t>testdata/</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46"/>
                      </a:solidFill>
                      <a:prstDash val="solid"/>
                      <a:round/>
                      <a:headEnd type="none" w="med" len="med"/>
                      <a:tailEnd type="none" w="med" len="med"/>
                    </a:lnL>
                    <a:lnR w="12700" cap="flat" cmpd="sng" algn="ctr">
                      <a:solidFill>
                        <a:srgbClr val="4B5450"/>
                      </a:solidFill>
                      <a:prstDash val="solid"/>
                      <a:round/>
                      <a:headEnd type="none" w="med" len="med"/>
                      <a:tailEnd type="none" w="med" len="med"/>
                    </a:lnR>
                    <a:lnT w="12700" cap="flat" cmpd="sng" algn="ctr">
                      <a:solidFill>
                        <a:srgbClr val="474F4B"/>
                      </a:solidFill>
                      <a:prstDash val="solid"/>
                      <a:round/>
                      <a:headEnd type="none" w="med" len="med"/>
                      <a:tailEnd type="none" w="med" len="med"/>
                    </a:lnT>
                    <a:lnB w="12700" cap="flat" cmpd="sng" algn="ctr">
                      <a:solidFill>
                        <a:srgbClr val="4B5450"/>
                      </a:solidFill>
                      <a:prstDash val="solid"/>
                      <a:round/>
                      <a:headEnd type="none" w="med" len="med"/>
                      <a:tailEnd type="none" w="med" len="med"/>
                    </a:lnB>
                    <a:solidFill>
                      <a:srgbClr val="1A2622"/>
                    </a:solidFill>
                  </a:tcPr>
                </a:tc>
                <a:tc>
                  <a:txBody>
                    <a:bodyPr/>
                    <a:lstStyle/>
                    <a:p>
                      <a:pPr marL="0" indent="0">
                        <a:lnSpc>
                          <a:spcPts val="1960"/>
                        </a:lnSpc>
                        <a:buNone/>
                      </a:pPr>
                      <a:r>
                        <a:rPr lang="en-US" sz="1400" dirty="0">
                          <a:solidFill>
                            <a:srgbClr val="F5F3EC"/>
                          </a:solidFill>
                          <a:latin typeface="IBM Plex Sans" pitchFamily="34" charset="0"/>
                          <a:ea typeface="IBM Plex Sans" pitchFamily="34" charset="-122"/>
                          <a:cs typeface="IBM Plex Sans" pitchFamily="34" charset="-120"/>
                        </a:rPr>
                        <a:t>JSON inputs kept out of tests</a:t>
                      </a:r>
                      <a:endParaRPr lang="en-US" sz="1400" dirty="0">
                        <a:latin typeface="IBM Plex Sans" charset="0"/>
                        <a:ea typeface="IBM Plex Sans" charset="0"/>
                        <a:cs typeface="IBM Plex Sans" charset="0"/>
                      </a:endParaRPr>
                    </a:p>
                  </a:txBody>
                  <a:tcPr marL="62230" marR="62230" marT="62230" marB="62230">
                    <a:lnL w="12700" cap="flat" cmpd="sng" algn="ctr">
                      <a:solidFill>
                        <a:srgbClr val="4B5450"/>
                      </a:solidFill>
                      <a:prstDash val="solid"/>
                      <a:round/>
                      <a:headEnd type="none" w="med" len="med"/>
                      <a:tailEnd type="none" w="med" len="med"/>
                    </a:lnL>
                    <a:lnR w="12700" cap="flat" cmpd="sng" algn="ctr">
                      <a:solidFill>
                        <a:srgbClr val="4B5450"/>
                      </a:solidFill>
                      <a:prstDash val="solid"/>
                      <a:round/>
                      <a:headEnd type="none" w="med" len="med"/>
                      <a:tailEnd type="none" w="med" len="med"/>
                    </a:lnR>
                    <a:lnT w="12700" cap="flat" cmpd="sng" algn="ctr">
                      <a:solidFill>
                        <a:srgbClr val="474F4B"/>
                      </a:solidFill>
                      <a:prstDash val="solid"/>
                      <a:round/>
                      <a:headEnd type="none" w="med" len="med"/>
                      <a:tailEnd type="none" w="med" len="med"/>
                    </a:lnT>
                    <a:lnB w="12700" cap="flat" cmpd="sng" algn="ctr">
                      <a:solidFill>
                        <a:srgbClr val="4B5450"/>
                      </a:solidFill>
                      <a:prstDash val="solid"/>
                      <a:round/>
                      <a:headEnd type="none" w="med" len="med"/>
                      <a:tailEnd type="none" w="med" len="med"/>
                    </a:lnB>
                    <a:solidFill>
                      <a:srgbClr val="1A2622"/>
                    </a:solidFill>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F5F3EC"/>
                          </a:solidFill>
                          <a:latin typeface="IBM Plex Sans" pitchFamily="34" charset="0"/>
                          <a:ea typeface="IBM Plex Sans" pitchFamily="34" charset="-122"/>
                          <a:cs typeface="IBM Plex Sans" pitchFamily="34" charset="-120"/>
                        </a:rPr>
                        <a:t>config/</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46"/>
                      </a:solidFill>
                      <a:prstDash val="solid"/>
                      <a:round/>
                      <a:headEnd type="none" w="med" len="med"/>
                      <a:tailEnd type="none" w="med" len="med"/>
                    </a:lnL>
                    <a:lnR w="12700" cap="flat" cmpd="sng" algn="ctr">
                      <a:solidFill>
                        <a:srgbClr val="474F4B"/>
                      </a:solidFill>
                      <a:prstDash val="solid"/>
                      <a:round/>
                      <a:headEnd type="none" w="med" len="med"/>
                      <a:tailEnd type="none" w="med" len="med"/>
                    </a:lnR>
                    <a:lnT w="12700" cap="flat" cmpd="sng" algn="ctr">
                      <a:solidFill>
                        <a:srgbClr val="4B5450"/>
                      </a:solidFill>
                      <a:prstDash val="solid"/>
                      <a:round/>
                      <a:headEnd type="none" w="med" len="med"/>
                      <a:tailEnd type="none" w="med" len="med"/>
                    </a:lnT>
                    <a:lnB w="12700" cap="flat" cmpd="sng" algn="ctr">
                      <a:solidFill>
                        <a:srgbClr val="474F4B"/>
                      </a:solidFill>
                      <a:prstDash val="solid"/>
                      <a:round/>
                      <a:headEnd type="none" w="med" len="med"/>
                      <a:tailEnd type="none" w="med" len="med"/>
                    </a:lnB>
                    <a:solidFill>
                      <a:srgbClr val="141F1B"/>
                    </a:solidFill>
                  </a:tcPr>
                </a:tc>
                <a:tc>
                  <a:txBody>
                    <a:bodyPr/>
                    <a:lstStyle/>
                    <a:p>
                      <a:pPr marL="0" indent="0">
                        <a:lnSpc>
                          <a:spcPts val="1960"/>
                        </a:lnSpc>
                        <a:buNone/>
                      </a:pPr>
                      <a:r>
                        <a:rPr lang="en-US" sz="1400" dirty="0">
                          <a:solidFill>
                            <a:srgbClr val="F5F3EC"/>
                          </a:solidFill>
                          <a:latin typeface="IBM Plex Sans" pitchFamily="34" charset="0"/>
                          <a:ea typeface="IBM Plex Sans" pitchFamily="34" charset="-122"/>
                          <a:cs typeface="IBM Plex Sans" pitchFamily="34" charset="-120"/>
                        </a:rPr>
                        <a:t>Environment and project settings</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F4B"/>
                      </a:solidFill>
                      <a:prstDash val="solid"/>
                      <a:round/>
                      <a:headEnd type="none" w="med" len="med"/>
                      <a:tailEnd type="none" w="med" len="med"/>
                    </a:lnL>
                    <a:lnR w="12700" cap="flat" cmpd="sng" algn="ctr">
                      <a:solidFill>
                        <a:srgbClr val="474F4B"/>
                      </a:solidFill>
                      <a:prstDash val="solid"/>
                      <a:round/>
                      <a:headEnd type="none" w="med" len="med"/>
                      <a:tailEnd type="none" w="med" len="med"/>
                    </a:lnR>
                    <a:lnT w="12700" cap="flat" cmpd="sng" algn="ctr">
                      <a:solidFill>
                        <a:srgbClr val="4B5450"/>
                      </a:solidFill>
                      <a:prstDash val="solid"/>
                      <a:round/>
                      <a:headEnd type="none" w="med" len="med"/>
                      <a:tailEnd type="none" w="med" len="med"/>
                    </a:lnT>
                    <a:lnB w="12700" cap="flat" cmpd="sng" algn="ctr">
                      <a:solidFill>
                        <a:srgbClr val="474F4B"/>
                      </a:solidFill>
                      <a:prstDash val="solid"/>
                      <a:round/>
                      <a:headEnd type="none" w="med" len="med"/>
                      <a:tailEnd type="none" w="med" len="med"/>
                    </a:lnB>
                    <a:solidFill>
                      <a:srgbClr val="141F1B"/>
                    </a:solidFill>
                  </a:tcPr>
                </a:tc>
                <a:extLst>
                  <a:ext uri="{0D108BD9-81ED-4DB2-BD59-A6C34878D82A}">
                    <a16:rowId xmlns:a16="http://schemas.microsoft.com/office/drawing/2014/main" val="10006"/>
                  </a:ext>
                </a:extLst>
              </a:tr>
              <a:tr h="385961">
                <a:tc>
                  <a:txBody>
                    <a:bodyPr/>
                    <a:lstStyle/>
                    <a:p>
                      <a:pPr marL="0" indent="0">
                        <a:lnSpc>
                          <a:spcPts val="1960"/>
                        </a:lnSpc>
                        <a:buNone/>
                      </a:pPr>
                      <a:r>
                        <a:rPr lang="en-US" sz="1400" dirty="0">
                          <a:solidFill>
                            <a:srgbClr val="F5F3EC"/>
                          </a:solidFill>
                          <a:latin typeface="IBM Plex Sans" pitchFamily="34" charset="0"/>
                          <a:ea typeface="IBM Plex Sans" pitchFamily="34" charset="-122"/>
                          <a:cs typeface="IBM Plex Sans" pitchFamily="34" charset="-120"/>
                        </a:rPr>
                        <a:t>reports/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46"/>
                      </a:solidFill>
                      <a:prstDash val="solid"/>
                      <a:round/>
                      <a:headEnd type="none" w="med" len="med"/>
                      <a:tailEnd type="none" w="med" len="med"/>
                    </a:lnL>
                    <a:lnR w="12700" cap="flat" cmpd="sng" algn="ctr">
                      <a:solidFill>
                        <a:srgbClr val="4B5450"/>
                      </a:solidFill>
                      <a:prstDash val="solid"/>
                      <a:round/>
                      <a:headEnd type="none" w="med" len="med"/>
                      <a:tailEnd type="none" w="med" len="med"/>
                    </a:lnR>
                    <a:lnT w="12700" cap="flat" cmpd="sng" algn="ctr">
                      <a:solidFill>
                        <a:srgbClr val="474F4B"/>
                      </a:solidFill>
                      <a:prstDash val="solid"/>
                      <a:round/>
                      <a:headEnd type="none" w="med" len="med"/>
                      <a:tailEnd type="none" w="med" len="med"/>
                    </a:lnT>
                    <a:lnB w="12700" cap="flat" cmpd="sng" algn="ctr">
                      <a:solidFill>
                        <a:srgbClr val="4B5450"/>
                      </a:solidFill>
                      <a:prstDash val="solid"/>
                      <a:round/>
                      <a:headEnd type="none" w="med" len="med"/>
                      <a:tailEnd type="none" w="med" len="med"/>
                    </a:lnB>
                    <a:solidFill>
                      <a:srgbClr val="1A2622"/>
                    </a:solidFill>
                  </a:tcPr>
                </a:tc>
                <a:tc>
                  <a:txBody>
                    <a:bodyPr/>
                    <a:lstStyle/>
                    <a:p>
                      <a:pPr marL="0" indent="0">
                        <a:lnSpc>
                          <a:spcPts val="1960"/>
                        </a:lnSpc>
                        <a:buNone/>
                      </a:pPr>
                      <a:r>
                        <a:rPr lang="en-US" sz="1400" dirty="0">
                          <a:solidFill>
                            <a:srgbClr val="F5F3EC"/>
                          </a:solidFill>
                          <a:latin typeface="IBM Plex Sans" pitchFamily="34" charset="0"/>
                          <a:ea typeface="IBM Plex Sans" pitchFamily="34" charset="-122"/>
                          <a:cs typeface="IBM Plex Sans" pitchFamily="34" charset="-120"/>
                        </a:rPr>
                        <a:t>HTML report, traces, screenshots</a:t>
                      </a:r>
                      <a:endParaRPr lang="en-US" sz="1400" dirty="0">
                        <a:latin typeface="IBM Plex Sans" charset="0"/>
                        <a:ea typeface="IBM Plex Sans" charset="0"/>
                        <a:cs typeface="IBM Plex Sans" charset="0"/>
                      </a:endParaRPr>
                    </a:p>
                  </a:txBody>
                  <a:tcPr marL="62230" marR="62230" marT="62230" marB="62230">
                    <a:lnL w="12700" cap="flat" cmpd="sng" algn="ctr">
                      <a:solidFill>
                        <a:srgbClr val="4B5450"/>
                      </a:solidFill>
                      <a:prstDash val="solid"/>
                      <a:round/>
                      <a:headEnd type="none" w="med" len="med"/>
                      <a:tailEnd type="none" w="med" len="med"/>
                    </a:lnL>
                    <a:lnR w="12700" cap="flat" cmpd="sng" algn="ctr">
                      <a:solidFill>
                        <a:srgbClr val="4B5450"/>
                      </a:solidFill>
                      <a:prstDash val="solid"/>
                      <a:round/>
                      <a:headEnd type="none" w="med" len="med"/>
                      <a:tailEnd type="none" w="med" len="med"/>
                    </a:lnR>
                    <a:lnT w="12700" cap="flat" cmpd="sng" algn="ctr">
                      <a:solidFill>
                        <a:srgbClr val="474F4B"/>
                      </a:solidFill>
                      <a:prstDash val="solid"/>
                      <a:round/>
                      <a:headEnd type="none" w="med" len="med"/>
                      <a:tailEnd type="none" w="med" len="med"/>
                    </a:lnT>
                    <a:lnB w="12700" cap="flat" cmpd="sng" algn="ctr">
                      <a:solidFill>
                        <a:srgbClr val="4B5450"/>
                      </a:solidFill>
                      <a:prstDash val="solid"/>
                      <a:round/>
                      <a:headEnd type="none" w="med" len="med"/>
                      <a:tailEnd type="none" w="med" len="med"/>
                    </a:lnB>
                    <a:solidFill>
                      <a:srgbClr val="1A2622"/>
                    </a:solidFill>
                  </a:tcPr>
                </a:tc>
                <a:extLst>
                  <a:ext uri="{0D108BD9-81ED-4DB2-BD59-A6C34878D82A}">
                    <a16:rowId xmlns:a16="http://schemas.microsoft.com/office/drawing/2014/main" val="10007"/>
                  </a:ext>
                </a:extLst>
              </a:tr>
            </a:tbl>
          </a:graphicData>
        </a:graphic>
      </p:graphicFrame>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9A"/>
                </a:solidFill>
                <a:latin typeface="IBM Plex Sans" pitchFamily="34" charset="0"/>
                <a:ea typeface="IBM Plex Sans" pitchFamily="34" charset="-122"/>
                <a:cs typeface="IBM Plex Sans" pitchFamily="34" charset="-120"/>
              </a:rPr>
              <a:t>Playwright Capstone · 07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35"/>
                </a:solidFill>
                <a:latin typeface="JetBrains Mono" pitchFamily="49" charset="0"/>
                <a:ea typeface="JetBrains Mono" pitchFamily="49" charset="-122"/>
                <a:cs typeface="JetBrains Mono" pitchFamily="49" charset="-120"/>
              </a:rPr>
              <a:t>02 · THE CAPSTONE</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B2420"/>
                </a:solidFill>
                <a:latin typeface="IBM Plex Sans" pitchFamily="34" charset="0"/>
                <a:ea typeface="IBM Plex Sans" pitchFamily="34" charset="-122"/>
                <a:cs typeface="IBM Plex Sans" pitchFamily="34" charset="-120"/>
              </a:rPr>
              <a:t>Layered architecture</a:t>
            </a:r>
            <a:endParaRPr lang="en-US" sz="3600" dirty="0"/>
          </a:p>
        </p:txBody>
      </p:sp>
      <p:sp>
        <p:nvSpPr>
          <p:cNvPr id="4" name="Shape 2"/>
          <p:cNvSpPr/>
          <p:nvPr/>
        </p:nvSpPr>
        <p:spPr>
          <a:xfrm>
            <a:off x="819150" y="1941711"/>
            <a:ext cx="2209800" cy="1485602"/>
          </a:xfrm>
          <a:prstGeom prst="roundRect">
            <a:avLst>
              <a:gd name="adj" fmla="val 6412"/>
            </a:avLst>
          </a:prstGeom>
          <a:solidFill>
            <a:srgbClr val="FBFAF6"/>
          </a:solidFill>
          <a:ln w="12700">
            <a:solidFill>
              <a:srgbClr val="1F7A35"/>
            </a:solidFill>
            <a:prstDash val="solid"/>
          </a:ln>
        </p:spPr>
        <p:txBody>
          <a:bodyPr/>
          <a:lstStyle/>
          <a:p>
            <a:endParaRPr lang="en-US"/>
          </a:p>
        </p:txBody>
      </p:sp>
      <p:sp>
        <p:nvSpPr>
          <p:cNvPr id="5" name="Text 3"/>
          <p:cNvSpPr/>
          <p:nvPr/>
        </p:nvSpPr>
        <p:spPr>
          <a:xfrm>
            <a:off x="1028700" y="2151261"/>
            <a:ext cx="184442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20"/>
                </a:solidFill>
                <a:latin typeface="IBM Plex Sans" pitchFamily="34" charset="0"/>
                <a:ea typeface="IBM Plex Sans" pitchFamily="34" charset="-122"/>
                <a:cs typeface="IBM Plex Sans" pitchFamily="34" charset="-120"/>
              </a:rPr>
              <a:t>Tests</a:t>
            </a:r>
            <a:endParaRPr lang="en-US" sz="1600" dirty="0"/>
          </a:p>
        </p:txBody>
      </p:sp>
      <p:sp>
        <p:nvSpPr>
          <p:cNvPr id="6" name="Text 4"/>
          <p:cNvSpPr/>
          <p:nvPr/>
        </p:nvSpPr>
        <p:spPr>
          <a:xfrm>
            <a:off x="1028700" y="2471241"/>
            <a:ext cx="1844421"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0"/>
                </a:solidFill>
                <a:latin typeface="IBM Plex Sans" pitchFamily="34" charset="0"/>
                <a:ea typeface="IBM Plex Sans" pitchFamily="34" charset="-122"/>
                <a:cs typeface="IBM Plex Sans" pitchFamily="34" charset="-120"/>
              </a:rPr>
              <a:t>Readable specs that describe behavior only</a:t>
            </a:r>
            <a:endParaRPr lang="en-US" sz="1400" dirty="0"/>
          </a:p>
        </p:txBody>
      </p:sp>
      <p:pic>
        <p:nvPicPr>
          <p:cNvPr id="7" name="Image 0" descr="arrow-right"/>
          <p:cNvPicPr>
            <a:picLocks noChangeAspect="1"/>
          </p:cNvPicPr>
          <p:nvPr/>
        </p:nvPicPr>
        <p:blipFill>
          <a:blip r:embed="rId3"/>
          <a:srcRect/>
          <a:stretch/>
        </p:blipFill>
        <p:spPr>
          <a:xfrm>
            <a:off x="3136900" y="2582863"/>
            <a:ext cx="355600" cy="203200"/>
          </a:xfrm>
          <a:prstGeom prst="rect">
            <a:avLst/>
          </a:prstGeom>
        </p:spPr>
      </p:pic>
      <p:sp>
        <p:nvSpPr>
          <p:cNvPr id="8" name="Shape 5"/>
          <p:cNvSpPr/>
          <p:nvPr/>
        </p:nvSpPr>
        <p:spPr>
          <a:xfrm>
            <a:off x="3600450" y="2066131"/>
            <a:ext cx="2209800" cy="1236762"/>
          </a:xfrm>
          <a:prstGeom prst="roundRect">
            <a:avLst>
              <a:gd name="adj" fmla="val 7702"/>
            </a:avLst>
          </a:prstGeom>
          <a:solidFill>
            <a:srgbClr val="FBFAF6"/>
          </a:solidFill>
          <a:ln w="12700">
            <a:solidFill>
              <a:srgbClr val="1F7A35"/>
            </a:solidFill>
            <a:prstDash val="solid"/>
          </a:ln>
        </p:spPr>
        <p:txBody>
          <a:bodyPr/>
          <a:lstStyle/>
          <a:p>
            <a:endParaRPr lang="en-US"/>
          </a:p>
        </p:txBody>
      </p:sp>
      <p:sp>
        <p:nvSpPr>
          <p:cNvPr id="9" name="Text 6"/>
          <p:cNvSpPr/>
          <p:nvPr/>
        </p:nvSpPr>
        <p:spPr>
          <a:xfrm>
            <a:off x="3810000" y="2275681"/>
            <a:ext cx="184442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20"/>
                </a:solidFill>
                <a:latin typeface="IBM Plex Sans" pitchFamily="34" charset="0"/>
                <a:ea typeface="IBM Plex Sans" pitchFamily="34" charset="-122"/>
                <a:cs typeface="IBM Plex Sans" pitchFamily="34" charset="-120"/>
              </a:rPr>
              <a:t>Fixtures</a:t>
            </a:r>
            <a:endParaRPr lang="en-US" sz="1600" dirty="0"/>
          </a:p>
        </p:txBody>
      </p:sp>
      <p:sp>
        <p:nvSpPr>
          <p:cNvPr id="10" name="Text 7"/>
          <p:cNvSpPr/>
          <p:nvPr/>
        </p:nvSpPr>
        <p:spPr>
          <a:xfrm>
            <a:off x="3810000" y="2595662"/>
            <a:ext cx="1844421"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0"/>
                </a:solidFill>
                <a:latin typeface="IBM Plex Sans" pitchFamily="34" charset="0"/>
                <a:ea typeface="IBM Plex Sans" pitchFamily="34" charset="-122"/>
                <a:cs typeface="IBM Plex Sans" pitchFamily="34" charset="-120"/>
              </a:rPr>
              <a:t>Inject page objects, auth state and data</a:t>
            </a:r>
            <a:endParaRPr lang="en-US" sz="1400" dirty="0"/>
          </a:p>
        </p:txBody>
      </p:sp>
      <p:pic>
        <p:nvPicPr>
          <p:cNvPr id="11" name="Image 1" descr="arrow-right"/>
          <p:cNvPicPr>
            <a:picLocks noChangeAspect="1"/>
          </p:cNvPicPr>
          <p:nvPr/>
        </p:nvPicPr>
        <p:blipFill>
          <a:blip r:embed="rId3"/>
          <a:srcRect/>
          <a:stretch/>
        </p:blipFill>
        <p:spPr>
          <a:xfrm>
            <a:off x="5918200" y="2582863"/>
            <a:ext cx="355600" cy="203200"/>
          </a:xfrm>
          <a:prstGeom prst="rect">
            <a:avLst/>
          </a:prstGeom>
        </p:spPr>
      </p:pic>
      <p:sp>
        <p:nvSpPr>
          <p:cNvPr id="12" name="Shape 8"/>
          <p:cNvSpPr/>
          <p:nvPr/>
        </p:nvSpPr>
        <p:spPr>
          <a:xfrm>
            <a:off x="6381750" y="2066131"/>
            <a:ext cx="2209800" cy="1236762"/>
          </a:xfrm>
          <a:prstGeom prst="roundRect">
            <a:avLst>
              <a:gd name="adj" fmla="val 7702"/>
            </a:avLst>
          </a:prstGeom>
          <a:solidFill>
            <a:srgbClr val="FBFAF6"/>
          </a:solidFill>
          <a:ln w="12700">
            <a:solidFill>
              <a:srgbClr val="1F7A35"/>
            </a:solidFill>
            <a:prstDash val="solid"/>
          </a:ln>
        </p:spPr>
        <p:txBody>
          <a:bodyPr/>
          <a:lstStyle/>
          <a:p>
            <a:endParaRPr lang="en-US"/>
          </a:p>
        </p:txBody>
      </p:sp>
      <p:sp>
        <p:nvSpPr>
          <p:cNvPr id="13" name="Text 9"/>
          <p:cNvSpPr/>
          <p:nvPr/>
        </p:nvSpPr>
        <p:spPr>
          <a:xfrm>
            <a:off x="6591300" y="2275681"/>
            <a:ext cx="184442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20"/>
                </a:solidFill>
                <a:latin typeface="IBM Plex Sans" pitchFamily="34" charset="0"/>
                <a:ea typeface="IBM Plex Sans" pitchFamily="34" charset="-122"/>
                <a:cs typeface="IBM Plex Sans" pitchFamily="34" charset="-120"/>
              </a:rPr>
              <a:t>Page objects</a:t>
            </a:r>
            <a:endParaRPr lang="en-US" sz="1600" dirty="0"/>
          </a:p>
        </p:txBody>
      </p:sp>
      <p:sp>
        <p:nvSpPr>
          <p:cNvPr id="14" name="Text 10"/>
          <p:cNvSpPr/>
          <p:nvPr/>
        </p:nvSpPr>
        <p:spPr>
          <a:xfrm>
            <a:off x="6591300" y="2595662"/>
            <a:ext cx="1844421"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0"/>
                </a:solidFill>
                <a:latin typeface="IBM Plex Sans" pitchFamily="34" charset="0"/>
                <a:ea typeface="IBM Plex Sans" pitchFamily="34" charset="-122"/>
                <a:cs typeface="IBM Plex Sans" pitchFamily="34" charset="-120"/>
              </a:rPr>
              <a:t>Own locators and user actions</a:t>
            </a:r>
            <a:endParaRPr lang="en-US" sz="1400" dirty="0"/>
          </a:p>
        </p:txBody>
      </p:sp>
      <p:pic>
        <p:nvPicPr>
          <p:cNvPr id="15" name="Image 2" descr="arrow-right"/>
          <p:cNvPicPr>
            <a:picLocks noChangeAspect="1"/>
          </p:cNvPicPr>
          <p:nvPr/>
        </p:nvPicPr>
        <p:blipFill>
          <a:blip r:embed="rId3"/>
          <a:srcRect/>
          <a:stretch/>
        </p:blipFill>
        <p:spPr>
          <a:xfrm>
            <a:off x="8699500" y="2582863"/>
            <a:ext cx="355600" cy="203200"/>
          </a:xfrm>
          <a:prstGeom prst="rect">
            <a:avLst/>
          </a:prstGeom>
        </p:spPr>
      </p:pic>
      <p:sp>
        <p:nvSpPr>
          <p:cNvPr id="16" name="Shape 11"/>
          <p:cNvSpPr/>
          <p:nvPr/>
        </p:nvSpPr>
        <p:spPr>
          <a:xfrm>
            <a:off x="9163050" y="2066131"/>
            <a:ext cx="2209800" cy="1236762"/>
          </a:xfrm>
          <a:prstGeom prst="roundRect">
            <a:avLst>
              <a:gd name="adj" fmla="val 7702"/>
            </a:avLst>
          </a:prstGeom>
          <a:solidFill>
            <a:srgbClr val="FBFAF6"/>
          </a:solidFill>
          <a:ln w="12700">
            <a:solidFill>
              <a:srgbClr val="1F7A35"/>
            </a:solidFill>
            <a:prstDash val="solid"/>
          </a:ln>
        </p:spPr>
        <p:txBody>
          <a:bodyPr/>
          <a:lstStyle/>
          <a:p>
            <a:endParaRPr lang="en-US"/>
          </a:p>
        </p:txBody>
      </p:sp>
      <p:sp>
        <p:nvSpPr>
          <p:cNvPr id="17" name="Text 12"/>
          <p:cNvSpPr/>
          <p:nvPr/>
        </p:nvSpPr>
        <p:spPr>
          <a:xfrm>
            <a:off x="9372600" y="2275681"/>
            <a:ext cx="184442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20"/>
                </a:solidFill>
                <a:latin typeface="IBM Plex Sans" pitchFamily="34" charset="0"/>
                <a:ea typeface="IBM Plex Sans" pitchFamily="34" charset="-122"/>
                <a:cs typeface="IBM Plex Sans" pitchFamily="34" charset="-120"/>
              </a:rPr>
              <a:t>Support</a:t>
            </a:r>
            <a:endParaRPr lang="en-US" sz="1600" dirty="0"/>
          </a:p>
        </p:txBody>
      </p:sp>
      <p:sp>
        <p:nvSpPr>
          <p:cNvPr id="18" name="Text 13"/>
          <p:cNvSpPr/>
          <p:nvPr/>
        </p:nvSpPr>
        <p:spPr>
          <a:xfrm>
            <a:off x="9372600" y="2595662"/>
            <a:ext cx="1844421"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0"/>
                </a:solidFill>
                <a:latin typeface="IBM Plex Sans" pitchFamily="34" charset="0"/>
                <a:ea typeface="IBM Plex Sans" pitchFamily="34" charset="-122"/>
                <a:cs typeface="IBM Plex Sans" pitchFamily="34" charset="-120"/>
              </a:rPr>
              <a:t>Utils, config and test data</a:t>
            </a:r>
            <a:endParaRPr lang="en-US" sz="1400" dirty="0"/>
          </a:p>
        </p:txBody>
      </p:sp>
      <p:sp>
        <p:nvSpPr>
          <p:cNvPr id="19" name="Shape 14"/>
          <p:cNvSpPr/>
          <p:nvPr/>
        </p:nvSpPr>
        <p:spPr>
          <a:xfrm>
            <a:off x="812800" y="3747988"/>
            <a:ext cx="3386634" cy="0"/>
          </a:xfrm>
          <a:prstGeom prst="line">
            <a:avLst/>
          </a:prstGeom>
          <a:noFill/>
          <a:ln w="19050">
            <a:solidFill>
              <a:srgbClr val="1F7A35"/>
            </a:solidFill>
            <a:prstDash val="solid"/>
          </a:ln>
        </p:spPr>
        <p:txBody>
          <a:bodyPr/>
          <a:lstStyle/>
          <a:p>
            <a:endParaRPr lang="en-US"/>
          </a:p>
        </p:txBody>
      </p:sp>
      <p:sp>
        <p:nvSpPr>
          <p:cNvPr id="20" name="Text 15"/>
          <p:cNvSpPr/>
          <p:nvPr/>
        </p:nvSpPr>
        <p:spPr>
          <a:xfrm>
            <a:off x="812800" y="3884513"/>
            <a:ext cx="3488233"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420"/>
                </a:solidFill>
                <a:latin typeface="IBM Plex Sans" pitchFamily="34" charset="0"/>
                <a:ea typeface="IBM Plex Sans" pitchFamily="34" charset="-122"/>
                <a:cs typeface="IBM Plex Sans" pitchFamily="34" charset="-120"/>
              </a:rPr>
              <a:t>Tests never contain selectors</a:t>
            </a:r>
            <a:endParaRPr lang="en-US" sz="1400" dirty="0"/>
          </a:p>
        </p:txBody>
      </p:sp>
      <p:sp>
        <p:nvSpPr>
          <p:cNvPr id="21" name="Shape 16"/>
          <p:cNvSpPr/>
          <p:nvPr/>
        </p:nvSpPr>
        <p:spPr>
          <a:xfrm>
            <a:off x="4402634" y="3747988"/>
            <a:ext cx="3386733" cy="0"/>
          </a:xfrm>
          <a:prstGeom prst="line">
            <a:avLst/>
          </a:prstGeom>
          <a:noFill/>
          <a:ln w="19050">
            <a:solidFill>
              <a:srgbClr val="1F7A35"/>
            </a:solidFill>
            <a:prstDash val="solid"/>
          </a:ln>
        </p:spPr>
        <p:txBody>
          <a:bodyPr/>
          <a:lstStyle/>
          <a:p>
            <a:endParaRPr lang="en-US"/>
          </a:p>
        </p:txBody>
      </p:sp>
      <p:sp>
        <p:nvSpPr>
          <p:cNvPr id="22" name="Text 17"/>
          <p:cNvSpPr/>
          <p:nvPr/>
        </p:nvSpPr>
        <p:spPr>
          <a:xfrm>
            <a:off x="4402634" y="3884513"/>
            <a:ext cx="3488335"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420"/>
                </a:solidFill>
                <a:latin typeface="IBM Plex Sans" pitchFamily="34" charset="0"/>
                <a:ea typeface="IBM Plex Sans" pitchFamily="34" charset="-122"/>
                <a:cs typeface="IBM Plex Sans" pitchFamily="34" charset="-120"/>
              </a:rPr>
              <a:t>Page objects expose user actions, not raw clicks</a:t>
            </a:r>
            <a:endParaRPr lang="en-US" sz="1400" dirty="0"/>
          </a:p>
        </p:txBody>
      </p:sp>
      <p:sp>
        <p:nvSpPr>
          <p:cNvPr id="23" name="Shape 18"/>
          <p:cNvSpPr/>
          <p:nvPr/>
        </p:nvSpPr>
        <p:spPr>
          <a:xfrm>
            <a:off x="7992566" y="3747988"/>
            <a:ext cx="3386634" cy="0"/>
          </a:xfrm>
          <a:prstGeom prst="line">
            <a:avLst/>
          </a:prstGeom>
          <a:noFill/>
          <a:ln w="19050">
            <a:solidFill>
              <a:srgbClr val="1F7A35"/>
            </a:solidFill>
            <a:prstDash val="solid"/>
          </a:ln>
        </p:spPr>
        <p:txBody>
          <a:bodyPr/>
          <a:lstStyle/>
          <a:p>
            <a:endParaRPr lang="en-US"/>
          </a:p>
        </p:txBody>
      </p:sp>
      <p:sp>
        <p:nvSpPr>
          <p:cNvPr id="24" name="Text 19"/>
          <p:cNvSpPr/>
          <p:nvPr/>
        </p:nvSpPr>
        <p:spPr>
          <a:xfrm>
            <a:off x="7992566" y="3884513"/>
            <a:ext cx="3488233"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420"/>
                </a:solidFill>
                <a:latin typeface="IBM Plex Sans" pitchFamily="34" charset="0"/>
                <a:ea typeface="IBM Plex Sans" pitchFamily="34" charset="-122"/>
                <a:cs typeface="IBM Plex Sans" pitchFamily="34" charset="-120"/>
              </a:rPr>
              <a:t>Config and data change without touching tests</a:t>
            </a:r>
            <a:endParaRPr lang="en-US" sz="1400" dirty="0"/>
          </a:p>
        </p:txBody>
      </p:sp>
      <p:sp>
        <p:nvSpPr>
          <p:cNvPr id="25"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60"/>
                </a:solidFill>
                <a:latin typeface="IBM Plex Sans" pitchFamily="34" charset="0"/>
                <a:ea typeface="IBM Plex Sans" pitchFamily="34" charset="-122"/>
                <a:cs typeface="IBM Plex Sans" pitchFamily="34" charset="-120"/>
              </a:rPr>
              <a:t>Playwright Capstone · 08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35"/>
                </a:solidFill>
                <a:latin typeface="JetBrains Mono" pitchFamily="49" charset="0"/>
                <a:ea typeface="JetBrains Mono" pitchFamily="49" charset="-122"/>
                <a:cs typeface="JetBrains Mono" pitchFamily="49" charset="-120"/>
              </a:rPr>
              <a:t>02 · THE CAPSTONE</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B2420"/>
                </a:solidFill>
                <a:latin typeface="IBM Plex Sans" pitchFamily="34" charset="0"/>
                <a:ea typeface="IBM Plex Sans" pitchFamily="34" charset="-122"/>
                <a:cs typeface="IBM Plex Sans" pitchFamily="34" charset="-120"/>
              </a:rPr>
              <a:t>Locator strategy</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261"/>
          <a:ext cx="10553700" cy="1929805"/>
        </p:xfrm>
        <a:graphic>
          <a:graphicData uri="http://schemas.openxmlformats.org/drawingml/2006/table">
            <a:tbl>
              <a:tblPr/>
              <a:tblGrid>
                <a:gridCol w="1266444">
                  <a:extLst>
                    <a:ext uri="{9D8B030D-6E8A-4147-A177-3AD203B41FA5}">
                      <a16:colId xmlns:a16="http://schemas.microsoft.com/office/drawing/2014/main" val="20000"/>
                    </a:ext>
                  </a:extLst>
                </a:gridCol>
                <a:gridCol w="2743962">
                  <a:extLst>
                    <a:ext uri="{9D8B030D-6E8A-4147-A177-3AD203B41FA5}">
                      <a16:colId xmlns:a16="http://schemas.microsoft.com/office/drawing/2014/main" val="20001"/>
                    </a:ext>
                  </a:extLst>
                </a:gridCol>
                <a:gridCol w="6543294">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5F3EC"/>
                          </a:solidFill>
                          <a:latin typeface="IBM Plex Sans" pitchFamily="34" charset="0"/>
                          <a:ea typeface="IBM Plex Sans" pitchFamily="34" charset="-122"/>
                          <a:cs typeface="IBM Plex Sans" pitchFamily="34" charset="-120"/>
                        </a:rPr>
                        <a:t>Priority</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19201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9201D"/>
                      </a:solidFill>
                      <a:prstDash val="solid"/>
                      <a:round/>
                      <a:headEnd type="none" w="med" len="med"/>
                      <a:tailEnd type="none" w="med" len="med"/>
                    </a:lnB>
                    <a:solidFill>
                      <a:srgbClr val="1B2420"/>
                    </a:solidFill>
                  </a:tcPr>
                </a:tc>
                <a:tc>
                  <a:txBody>
                    <a:bodyPr/>
                    <a:lstStyle/>
                    <a:p>
                      <a:pPr marL="0" indent="0">
                        <a:lnSpc>
                          <a:spcPts val="1960"/>
                        </a:lnSpc>
                        <a:buNone/>
                      </a:pPr>
                      <a:r>
                        <a:rPr lang="en-US" sz="1400" b="1" dirty="0">
                          <a:solidFill>
                            <a:srgbClr val="F5F3EC"/>
                          </a:solidFill>
                          <a:latin typeface="IBM Plex Sans" pitchFamily="34" charset="0"/>
                          <a:ea typeface="IBM Plex Sans" pitchFamily="34" charset="-122"/>
                          <a:cs typeface="IBM Plex Sans" pitchFamily="34" charset="-120"/>
                        </a:rPr>
                        <a:t>Locator</a:t>
                      </a:r>
                      <a:endParaRPr lang="en-US" sz="1400" dirty="0">
                        <a:latin typeface="IBM Plex Sans" charset="0"/>
                        <a:ea typeface="IBM Plex Sans" charset="0"/>
                        <a:cs typeface="IBM Plex Sans" charset="0"/>
                      </a:endParaRPr>
                    </a:p>
                  </a:txBody>
                  <a:tcPr marL="62230" marR="62230" marT="62230" marB="62230">
                    <a:lnL w="12700" cap="flat" cmpd="sng" algn="ctr">
                      <a:solidFill>
                        <a:srgbClr val="19201D"/>
                      </a:solidFill>
                      <a:prstDash val="solid"/>
                      <a:round/>
                      <a:headEnd type="none" w="med" len="med"/>
                      <a:tailEnd type="none" w="med" len="med"/>
                    </a:lnL>
                    <a:lnR w="12700" cap="flat" cmpd="sng" algn="ctr">
                      <a:solidFill>
                        <a:srgbClr val="19201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9201D"/>
                      </a:solidFill>
                      <a:prstDash val="solid"/>
                      <a:round/>
                      <a:headEnd type="none" w="med" len="med"/>
                      <a:tailEnd type="none" w="med" len="med"/>
                    </a:lnB>
                    <a:solidFill>
                      <a:srgbClr val="1B2420"/>
                    </a:solidFill>
                  </a:tcPr>
                </a:tc>
                <a:tc>
                  <a:txBody>
                    <a:bodyPr/>
                    <a:lstStyle/>
                    <a:p>
                      <a:pPr marL="0" indent="0">
                        <a:lnSpc>
                          <a:spcPts val="1960"/>
                        </a:lnSpc>
                        <a:buNone/>
                      </a:pPr>
                      <a:r>
                        <a:rPr lang="en-US" sz="1400" b="1" dirty="0">
                          <a:solidFill>
                            <a:srgbClr val="F5F3EC"/>
                          </a:solidFill>
                          <a:latin typeface="IBM Plex Sans" pitchFamily="34" charset="0"/>
                          <a:ea typeface="IBM Plex Sans" pitchFamily="34" charset="-122"/>
                          <a:cs typeface="IBM Plex Sans" pitchFamily="34" charset="-120"/>
                        </a:rPr>
                        <a:t>Use it when</a:t>
                      </a:r>
                      <a:endParaRPr lang="en-US" sz="1400" dirty="0">
                        <a:latin typeface="IBM Plex Sans" charset="0"/>
                        <a:ea typeface="IBM Plex Sans" charset="0"/>
                        <a:cs typeface="IBM Plex Sans" charset="0"/>
                      </a:endParaRPr>
                    </a:p>
                  </a:txBody>
                  <a:tcPr marL="62230" marR="62230" marT="62230" marB="62230">
                    <a:lnL w="12700" cap="flat" cmpd="sng" algn="ctr">
                      <a:solidFill>
                        <a:srgbClr val="19201D"/>
                      </a:solidFill>
                      <a:prstDash val="solid"/>
                      <a:round/>
                      <a:headEnd type="none" w="med" len="med"/>
                      <a:tailEnd type="none" w="med" len="med"/>
                    </a:lnL>
                    <a:lnR w="12700" cap="flat" cmpd="sng" algn="ctr">
                      <a:solidFill>
                        <a:srgbClr val="19201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9201D"/>
                      </a:solidFill>
                      <a:prstDash val="solid"/>
                      <a:round/>
                      <a:headEnd type="none" w="med" len="med"/>
                      <a:tailEnd type="none" w="med" len="med"/>
                    </a:lnB>
                    <a:solidFill>
                      <a:srgbClr val="1B2420"/>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9201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getByRole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9201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Buttons, links, headings: matches what users see</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9201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getByLabel</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Form fields with visible labels</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getByTestId</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No role or text: set testIdAttribute to data-qa</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CSS or XPath</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Last resort, always scoped to a parent</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extLst>
                  <a:ext uri="{0D108BD9-81ED-4DB2-BD59-A6C34878D82A}">
                    <a16:rowId xmlns:a16="http://schemas.microsoft.com/office/drawing/2014/main" val="10004"/>
                  </a:ext>
                </a:extLst>
              </a:tr>
            </a:tbl>
          </a:graphicData>
        </a:graphic>
      </p:graphicFrame>
      <p:sp>
        <p:nvSpPr>
          <p:cNvPr id="5" name="Text 2"/>
          <p:cNvSpPr/>
          <p:nvPr/>
        </p:nvSpPr>
        <p:spPr>
          <a:xfrm>
            <a:off x="812800" y="4081066"/>
            <a:ext cx="1088339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F7A35"/>
                </a:solidFill>
                <a:latin typeface="IBM Plex Sans" pitchFamily="34" charset="0"/>
                <a:ea typeface="IBM Plex Sans" pitchFamily="34" charset="-122"/>
                <a:cs typeface="IBM Plex Sans" pitchFamily="34" charset="-120"/>
              </a:rPr>
              <a:t>Locate by what the user sees first, by implementation last.</a:t>
            </a:r>
            <a:endParaRPr lang="en-US" sz="16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60"/>
                </a:solidFill>
                <a:latin typeface="IBM Plex Sans" pitchFamily="34" charset="0"/>
                <a:ea typeface="IBM Plex Sans" pitchFamily="34" charset="-122"/>
                <a:cs typeface="IBM Plex Sans" pitchFamily="34" charset="-120"/>
              </a:rPr>
              <a:t>Playwright Capstone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7">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35"/>
                </a:solidFill>
                <a:latin typeface="JetBrains Mono" pitchFamily="49" charset="0"/>
                <a:ea typeface="JetBrains Mono" pitchFamily="49" charset="-122"/>
                <a:cs typeface="JetBrains Mono" pitchFamily="49" charset="-120"/>
              </a:rPr>
              <a:t>04 · DELIVERY</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B2420"/>
                </a:solidFill>
                <a:latin typeface="IBM Plex Sans" pitchFamily="34" charset="0"/>
                <a:ea typeface="IBM Plex Sans" pitchFamily="34" charset="-122"/>
                <a:cs typeface="IBM Plex Sans" pitchFamily="34" charset="-120"/>
              </a:rPr>
              <a:t>The automated test suite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2300894773"/>
              </p:ext>
            </p:extLst>
          </p:nvPr>
        </p:nvGraphicFramePr>
        <p:xfrm>
          <a:off x="825500" y="1897261"/>
          <a:ext cx="10553700" cy="3473649"/>
        </p:xfrm>
        <a:graphic>
          <a:graphicData uri="http://schemas.openxmlformats.org/drawingml/2006/table">
            <a:tbl>
              <a:tblPr/>
              <a:tblGrid>
                <a:gridCol w="844296">
                  <a:extLst>
                    <a:ext uri="{9D8B030D-6E8A-4147-A177-3AD203B41FA5}">
                      <a16:colId xmlns:a16="http://schemas.microsoft.com/office/drawing/2014/main" val="20000"/>
                    </a:ext>
                  </a:extLst>
                </a:gridCol>
                <a:gridCol w="5065776">
                  <a:extLst>
                    <a:ext uri="{9D8B030D-6E8A-4147-A177-3AD203B41FA5}">
                      <a16:colId xmlns:a16="http://schemas.microsoft.com/office/drawing/2014/main" val="20001"/>
                    </a:ext>
                  </a:extLst>
                </a:gridCol>
                <a:gridCol w="4643628">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5F3EC"/>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19201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9201D"/>
                      </a:solidFill>
                      <a:prstDash val="solid"/>
                      <a:round/>
                      <a:headEnd type="none" w="med" len="med"/>
                      <a:tailEnd type="none" w="med" len="med"/>
                    </a:lnB>
                    <a:solidFill>
                      <a:srgbClr val="1B2420"/>
                    </a:solidFill>
                  </a:tcPr>
                </a:tc>
                <a:tc>
                  <a:txBody>
                    <a:bodyPr/>
                    <a:lstStyle/>
                    <a:p>
                      <a:pPr marL="0" indent="0">
                        <a:lnSpc>
                          <a:spcPts val="1960"/>
                        </a:lnSpc>
                        <a:buNone/>
                      </a:pPr>
                      <a:r>
                        <a:rPr lang="en-US" sz="1400" b="1" dirty="0">
                          <a:solidFill>
                            <a:srgbClr val="F5F3EC"/>
                          </a:solidFill>
                          <a:latin typeface="IBM Plex Sans" pitchFamily="34" charset="0"/>
                          <a:ea typeface="IBM Plex Sans" pitchFamily="34" charset="-122"/>
                          <a:cs typeface="IBM Plex Sans" pitchFamily="34" charset="-120"/>
                        </a:rPr>
                        <a:t>Test</a:t>
                      </a:r>
                      <a:endParaRPr lang="en-US" sz="1400" dirty="0">
                        <a:latin typeface="IBM Plex Sans" charset="0"/>
                        <a:ea typeface="IBM Plex Sans" charset="0"/>
                        <a:cs typeface="IBM Plex Sans" charset="0"/>
                      </a:endParaRPr>
                    </a:p>
                  </a:txBody>
                  <a:tcPr marL="62230" marR="62230" marT="62230" marB="62230">
                    <a:lnL w="12700" cap="flat" cmpd="sng" algn="ctr">
                      <a:solidFill>
                        <a:srgbClr val="19201D"/>
                      </a:solidFill>
                      <a:prstDash val="solid"/>
                      <a:round/>
                      <a:headEnd type="none" w="med" len="med"/>
                      <a:tailEnd type="none" w="med" len="med"/>
                    </a:lnL>
                    <a:lnR w="12700" cap="flat" cmpd="sng" algn="ctr">
                      <a:solidFill>
                        <a:srgbClr val="19201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9201D"/>
                      </a:solidFill>
                      <a:prstDash val="solid"/>
                      <a:round/>
                      <a:headEnd type="none" w="med" len="med"/>
                      <a:tailEnd type="none" w="med" len="med"/>
                    </a:lnB>
                    <a:solidFill>
                      <a:srgbClr val="1B2420"/>
                    </a:solidFill>
                  </a:tcPr>
                </a:tc>
                <a:tc>
                  <a:txBody>
                    <a:bodyPr/>
                    <a:lstStyle/>
                    <a:p>
                      <a:pPr marL="0" indent="0">
                        <a:lnSpc>
                          <a:spcPts val="1960"/>
                        </a:lnSpc>
                        <a:buNone/>
                      </a:pPr>
                      <a:r>
                        <a:rPr lang="en-US" sz="1400" b="1" dirty="0">
                          <a:solidFill>
                            <a:srgbClr val="F5F3EC"/>
                          </a:solidFill>
                          <a:latin typeface="IBM Plex Sans" pitchFamily="34" charset="0"/>
                          <a:ea typeface="IBM Plex Sans" pitchFamily="34" charset="-122"/>
                          <a:cs typeface="IBM Plex Sans" pitchFamily="34" charset="-120"/>
                        </a:rPr>
                        <a:t>Covers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19201D"/>
                      </a:solidFill>
                      <a:prstDash val="solid"/>
                      <a:round/>
                      <a:headEnd type="none" w="med" len="med"/>
                      <a:tailEnd type="none" w="med" len="med"/>
                    </a:lnL>
                    <a:lnR w="12700" cap="flat" cmpd="sng" algn="ctr">
                      <a:solidFill>
                        <a:srgbClr val="19201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9201D"/>
                      </a:solidFill>
                      <a:prstDash val="solid"/>
                      <a:round/>
                      <a:headEnd type="none" w="med" len="med"/>
                      <a:tailEnd type="none" w="med" len="med"/>
                    </a:lnB>
                    <a:solidFill>
                      <a:srgbClr val="1B2420"/>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9201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Register, log out, log in</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9201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Registration, login, logout</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9201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Login with invalid credentials</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Negative path validation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Search for a product</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Search, data-driven, mocked API</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Add and remove cart items</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Cart management</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Checkout and place an order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Checkout, order validation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6</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Submit the Contact Us form</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Form validation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extLst>
                  <a:ext uri="{0D108BD9-81ED-4DB2-BD59-A6C34878D82A}">
                    <a16:rowId xmlns:a16="http://schemas.microsoft.com/office/drawing/2014/main" val="10006"/>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7</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Accessibility scan</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axe-core</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CBAB0"/>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7"/>
                  </a:ext>
                </a:extLst>
              </a:tr>
              <a:tr h="385961">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Visual check of the home page</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tc>
                  <a:txBody>
                    <a:bodyPr/>
                    <a:lstStyle/>
                    <a:p>
                      <a:pPr marL="0" indent="0">
                        <a:lnSpc>
                          <a:spcPts val="1960"/>
                        </a:lnSpc>
                        <a:buNone/>
                      </a:pPr>
                      <a:r>
                        <a:rPr lang="en-US" sz="1400" dirty="0">
                          <a:solidFill>
                            <a:srgbClr val="1B2420"/>
                          </a:solidFill>
                          <a:latin typeface="IBM Plex Sans" pitchFamily="34" charset="0"/>
                          <a:ea typeface="IBM Plex Sans" pitchFamily="34" charset="-122"/>
                          <a:cs typeface="IBM Plex Sans" pitchFamily="34" charset="-120"/>
                        </a:rPr>
                        <a:t>Visual regression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AB0"/>
                      </a:solidFill>
                      <a:prstDash val="solid"/>
                      <a:round/>
                      <a:headEnd type="none" w="med" len="med"/>
                      <a:tailEnd type="none" w="med" len="med"/>
                    </a:lnL>
                    <a:lnR w="12700" cap="flat" cmpd="sng" algn="ctr">
                      <a:solidFill>
                        <a:srgbClr val="BCBAB0"/>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AB0"/>
                      </a:solidFill>
                      <a:prstDash val="solid"/>
                      <a:round/>
                      <a:headEnd type="none" w="med" len="med"/>
                      <a:tailEnd type="none" w="med" len="med"/>
                    </a:lnB>
                    <a:solidFill>
                      <a:srgbClr val="ECE9DC"/>
                    </a:solidFill>
                  </a:tcPr>
                </a:tc>
                <a:extLst>
                  <a:ext uri="{0D108BD9-81ED-4DB2-BD59-A6C34878D82A}">
                    <a16:rowId xmlns:a16="http://schemas.microsoft.com/office/drawing/2014/main" val="10008"/>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60"/>
                </a:solidFill>
                <a:latin typeface="IBM Plex Sans" pitchFamily="34" charset="0"/>
                <a:ea typeface="IBM Plex Sans" pitchFamily="34" charset="-122"/>
                <a:cs typeface="IBM Plex Sans" pitchFamily="34" charset="-120"/>
              </a:rPr>
              <a:t>Playwright Capstone · 17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8">
    <p:bg>
      <p:bgPr>
        <a:solidFill>
          <a:srgbClr val="10181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CC264"/>
                </a:solidFill>
                <a:latin typeface="JetBrains Mono" pitchFamily="49" charset="0"/>
                <a:ea typeface="JetBrains Mono" pitchFamily="49" charset="-122"/>
                <a:cs typeface="JetBrains Mono" pitchFamily="49" charset="-120"/>
              </a:rPr>
              <a:t>04 · DELIVERY</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5F3EC"/>
                </a:solidFill>
                <a:latin typeface="IBM Plex Sans" pitchFamily="34" charset="0"/>
                <a:ea typeface="IBM Plex Sans" pitchFamily="34" charset="-122"/>
                <a:cs typeface="IBM Plex Sans" pitchFamily="34" charset="-120"/>
              </a:rPr>
              <a:t>Reporting and debugging</a:t>
            </a:r>
            <a:endParaRPr lang="en-US" sz="3600" dirty="0"/>
          </a:p>
        </p:txBody>
      </p:sp>
      <p:sp>
        <p:nvSpPr>
          <p:cNvPr id="4" name="Shape 2"/>
          <p:cNvSpPr/>
          <p:nvPr/>
        </p:nvSpPr>
        <p:spPr>
          <a:xfrm>
            <a:off x="815975" y="1887736"/>
            <a:ext cx="5175250" cy="1829693"/>
          </a:xfrm>
          <a:prstGeom prst="roundRect">
            <a:avLst>
              <a:gd name="adj" fmla="val 5379"/>
            </a:avLst>
          </a:prstGeom>
          <a:solidFill>
            <a:srgbClr val="1A2622"/>
          </a:solidFill>
          <a:ln w="6350">
            <a:solidFill>
              <a:srgbClr val="2A3A34"/>
            </a:solidFill>
            <a:prstDash val="solid"/>
          </a:ln>
        </p:spPr>
        <p:txBody>
          <a:bodyPr/>
          <a:lstStyle/>
          <a:p>
            <a:endParaRPr lang="en-US"/>
          </a:p>
        </p:txBody>
      </p:sp>
      <p:sp>
        <p:nvSpPr>
          <p:cNvPr id="5" name="Text 3"/>
          <p:cNvSpPr/>
          <p:nvPr/>
        </p:nvSpPr>
        <p:spPr>
          <a:xfrm>
            <a:off x="1047750" y="2119511"/>
            <a:ext cx="485305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4CC264"/>
                </a:solidFill>
                <a:latin typeface="IBM Plex Sans" pitchFamily="34" charset="0"/>
                <a:ea typeface="IBM Plex Sans" pitchFamily="34" charset="-122"/>
                <a:cs typeface="IBM Plex Sans" pitchFamily="34" charset="-120"/>
              </a:rPr>
              <a:t>What every run produces</a:t>
            </a:r>
            <a:endParaRPr lang="en-US" sz="1600" dirty="0"/>
          </a:p>
        </p:txBody>
      </p:sp>
      <p:sp>
        <p:nvSpPr>
          <p:cNvPr id="6" name="Text 4"/>
          <p:cNvSpPr/>
          <p:nvPr/>
        </p:nvSpPr>
        <p:spPr>
          <a:xfrm>
            <a:off x="1125982" y="2490291"/>
            <a:ext cx="4767199" cy="1020763"/>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F5F3EC"/>
                </a:solidFill>
                <a:latin typeface="IBM Plex Sans" pitchFamily="34" charset="0"/>
                <a:ea typeface="IBM Plex Sans" pitchFamily="34" charset="-122"/>
                <a:cs typeface="IBM Plex Sans" pitchFamily="34" charset="-120"/>
              </a:rPr>
              <a:t>HTML report in reports/html</a:t>
            </a:r>
            <a:endParaRPr lang="en-US" sz="1400" dirty="0"/>
          </a:p>
          <a:p>
            <a:pPr marL="175768" indent="-175768" algn="l">
              <a:lnSpc>
                <a:spcPts val="1960"/>
              </a:lnSpc>
              <a:buSzPct val="100000"/>
              <a:buChar char="•"/>
            </a:pPr>
            <a:r>
              <a:rPr lang="en-US" sz="1400" dirty="0">
                <a:solidFill>
                  <a:srgbClr val="F5F3EC"/>
                </a:solidFill>
                <a:latin typeface="IBM Plex Sans" pitchFamily="34" charset="0"/>
                <a:ea typeface="IBM Plex Sans" pitchFamily="34" charset="-122"/>
                <a:cs typeface="IBM Plex Sans" pitchFamily="34" charset="-120"/>
              </a:rPr>
              <a:t>Screenshots on failure</a:t>
            </a:r>
            <a:endParaRPr lang="en-US" sz="1400" dirty="0"/>
          </a:p>
          <a:p>
            <a:pPr marL="175768" indent="-175768" algn="l">
              <a:lnSpc>
                <a:spcPts val="1960"/>
              </a:lnSpc>
              <a:buSzPct val="100000"/>
              <a:buChar char="•"/>
            </a:pPr>
            <a:r>
              <a:rPr lang="en-US" sz="1400" dirty="0">
                <a:solidFill>
                  <a:srgbClr val="F5F3EC"/>
                </a:solidFill>
                <a:latin typeface="IBM Plex Sans" pitchFamily="34" charset="0"/>
                <a:ea typeface="IBM Plex Sans" pitchFamily="34" charset="-122"/>
                <a:cs typeface="IBM Plex Sans" pitchFamily="34" charset="-120"/>
              </a:rPr>
              <a:t>Trace on the first retry</a:t>
            </a:r>
            <a:endParaRPr lang="en-US" sz="1400" dirty="0"/>
          </a:p>
          <a:p>
            <a:pPr marL="175768" indent="-175768" algn="l">
              <a:lnSpc>
                <a:spcPts val="1960"/>
              </a:lnSpc>
              <a:buSzPct val="100000"/>
              <a:buChar char="•"/>
            </a:pPr>
            <a:r>
              <a:rPr lang="en-US" sz="1400" dirty="0">
                <a:solidFill>
                  <a:srgbClr val="F5F3EC"/>
                </a:solidFill>
                <a:latin typeface="IBM Plex Sans" pitchFamily="34" charset="0"/>
                <a:ea typeface="IBM Plex Sans" pitchFamily="34" charset="-122"/>
                <a:cs typeface="IBM Plex Sans" pitchFamily="34" charset="-120"/>
              </a:rPr>
              <a:t>Open it with npx playwright show-report</a:t>
            </a:r>
            <a:endParaRPr lang="en-US" sz="1400" dirty="0"/>
          </a:p>
        </p:txBody>
      </p:sp>
      <p:sp>
        <p:nvSpPr>
          <p:cNvPr id="7" name="Shape 5"/>
          <p:cNvSpPr/>
          <p:nvPr/>
        </p:nvSpPr>
        <p:spPr>
          <a:xfrm>
            <a:off x="6200775" y="1887736"/>
            <a:ext cx="5175250" cy="2078534"/>
          </a:xfrm>
          <a:prstGeom prst="roundRect">
            <a:avLst>
              <a:gd name="adj" fmla="val 4735"/>
            </a:avLst>
          </a:prstGeom>
          <a:solidFill>
            <a:srgbClr val="1A2622"/>
          </a:solidFill>
          <a:ln w="6350">
            <a:solidFill>
              <a:srgbClr val="2A3A34"/>
            </a:solidFill>
            <a:prstDash val="solid"/>
          </a:ln>
        </p:spPr>
        <p:txBody>
          <a:bodyPr/>
          <a:lstStyle/>
          <a:p>
            <a:endParaRPr lang="en-US"/>
          </a:p>
        </p:txBody>
      </p:sp>
      <p:sp>
        <p:nvSpPr>
          <p:cNvPr id="8" name="Text 6"/>
          <p:cNvSpPr/>
          <p:nvPr/>
        </p:nvSpPr>
        <p:spPr>
          <a:xfrm>
            <a:off x="6432550" y="2119511"/>
            <a:ext cx="485305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4CC264"/>
                </a:solidFill>
                <a:latin typeface="IBM Plex Sans" pitchFamily="34" charset="0"/>
                <a:ea typeface="IBM Plex Sans" pitchFamily="34" charset="-122"/>
                <a:cs typeface="IBM Plex Sans" pitchFamily="34" charset="-120"/>
              </a:rPr>
              <a:t>Debug workflow</a:t>
            </a:r>
            <a:endParaRPr lang="en-US" sz="1600" dirty="0"/>
          </a:p>
        </p:txBody>
      </p:sp>
      <p:sp>
        <p:nvSpPr>
          <p:cNvPr id="9" name="Text 7"/>
          <p:cNvSpPr/>
          <p:nvPr/>
        </p:nvSpPr>
        <p:spPr>
          <a:xfrm>
            <a:off x="6489402" y="2490291"/>
            <a:ext cx="4788579" cy="1269603"/>
          </a:xfrm>
          <a:prstGeom prst="rect">
            <a:avLst/>
          </a:prstGeom>
          <a:noFill/>
          <a:ln/>
        </p:spPr>
        <p:txBody>
          <a:bodyPr wrap="square" lIns="0" tIns="0" rIns="0" bIns="0" rtlCol="0" anchor="t">
            <a:normAutofit/>
          </a:bodyPr>
          <a:lstStyle/>
          <a:p>
            <a:pPr marL="197148" indent="-197148" algn="l">
              <a:lnSpc>
                <a:spcPts val="1960"/>
              </a:lnSpc>
              <a:buSzPct val="100000"/>
              <a:buFontTx/>
              <a:buAutoNum type="arabicPeriod"/>
            </a:pPr>
            <a:r>
              <a:rPr lang="en-US" sz="1400" dirty="0">
                <a:solidFill>
                  <a:srgbClr val="F5F3EC"/>
                </a:solidFill>
                <a:latin typeface="IBM Plex Sans" pitchFamily="34" charset="0"/>
                <a:ea typeface="IBM Plex Sans" pitchFamily="34" charset="-122"/>
                <a:cs typeface="IBM Plex Sans" pitchFamily="34" charset="-120"/>
              </a:rPr>
              <a:t>Find the failing step in the HTML report</a:t>
            </a:r>
            <a:endParaRPr lang="en-US" sz="1400" dirty="0"/>
          </a:p>
          <a:p>
            <a:pPr marL="197148" indent="-197148" algn="l">
              <a:lnSpc>
                <a:spcPts val="1960"/>
              </a:lnSpc>
              <a:buSzPct val="100000"/>
              <a:buFontTx/>
              <a:buAutoNum type="arabicPeriod"/>
            </a:pPr>
            <a:r>
              <a:rPr lang="en-US" sz="1400" dirty="0">
                <a:solidFill>
                  <a:srgbClr val="F5F3EC"/>
                </a:solidFill>
                <a:latin typeface="IBM Plex Sans" pitchFamily="34" charset="0"/>
                <a:ea typeface="IBM Plex Sans" pitchFamily="34" charset="-122"/>
                <a:cs typeface="IBM Plex Sans" pitchFamily="34" charset="-120"/>
              </a:rPr>
              <a:t>Open the trace with npx playwright show-trace</a:t>
            </a:r>
            <a:endParaRPr lang="en-US" sz="1400" dirty="0"/>
          </a:p>
          <a:p>
            <a:pPr marL="197148" indent="-197148" algn="l">
              <a:lnSpc>
                <a:spcPts val="1960"/>
              </a:lnSpc>
              <a:buSzPct val="100000"/>
              <a:buFontTx/>
              <a:buAutoNum type="arabicPeriod"/>
            </a:pPr>
            <a:r>
              <a:rPr lang="en-US" sz="1400" dirty="0">
                <a:solidFill>
                  <a:srgbClr val="F5F3EC"/>
                </a:solidFill>
                <a:latin typeface="IBM Plex Sans" pitchFamily="34" charset="0"/>
                <a:ea typeface="IBM Plex Sans" pitchFamily="34" charset="-122"/>
                <a:cs typeface="IBM Plex Sans" pitchFamily="34" charset="-120"/>
              </a:rPr>
              <a:t>Inspect DOM, network and console at that moment</a:t>
            </a:r>
            <a:endParaRPr lang="en-US" sz="1400" dirty="0"/>
          </a:p>
          <a:p>
            <a:pPr marL="197148" indent="-197148" algn="l">
              <a:lnSpc>
                <a:spcPts val="1960"/>
              </a:lnSpc>
              <a:buSzPct val="100000"/>
              <a:buFontTx/>
              <a:buAutoNum type="arabicPeriod"/>
            </a:pPr>
            <a:r>
              <a:rPr lang="en-US" sz="1400" dirty="0">
                <a:solidFill>
                  <a:srgbClr val="F5F3EC"/>
                </a:solidFill>
                <a:latin typeface="IBM Plex Sans" pitchFamily="34" charset="0"/>
                <a:ea typeface="IBM Plex Sans" pitchFamily="34" charset="-122"/>
                <a:cs typeface="IBM Plex Sans" pitchFamily="34" charset="-120"/>
              </a:rPr>
              <a:t>Reproduce locally with --debug or UI mode</a:t>
            </a:r>
            <a:endParaRPr lang="en-US" sz="1400" dirty="0"/>
          </a:p>
          <a:p>
            <a:pPr marL="197148" indent="-197148" algn="l">
              <a:lnSpc>
                <a:spcPts val="1960"/>
              </a:lnSpc>
              <a:buSzPct val="100000"/>
              <a:buFontTx/>
              <a:buAutoNum type="arabicPeriod"/>
            </a:pPr>
            <a:r>
              <a:rPr lang="en-US" sz="1400" dirty="0">
                <a:solidFill>
                  <a:srgbClr val="F5F3EC"/>
                </a:solidFill>
                <a:latin typeface="IBM Plex Sans" pitchFamily="34" charset="0"/>
                <a:ea typeface="IBM Plex Sans" pitchFamily="34" charset="-122"/>
                <a:cs typeface="IBM Plex Sans" pitchFamily="34" charset="-120"/>
              </a:rPr>
              <a:t>Fix the locator or wait, then rerun</a:t>
            </a:r>
            <a:endParaRPr lang="en-US" sz="14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9A"/>
                </a:solidFill>
                <a:latin typeface="IBM Plex Sans" pitchFamily="34" charset="0"/>
                <a:ea typeface="IBM Plex Sans" pitchFamily="34" charset="-122"/>
                <a:cs typeface="IBM Plex Sans" pitchFamily="34" charset="-120"/>
              </a:rPr>
              <a:t>Playwright Capstone · 18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2">
    <p:bg>
      <p:bgPr>
        <a:solidFill>
          <a:srgbClr val="101815"/>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4CC264"/>
          </a:solidFill>
          <a:ln/>
        </p:spPr>
        <p:txBody>
          <a:bodyPr/>
          <a:lstStyle/>
          <a:p>
            <a:endParaRPr lang="en-US"/>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CC264"/>
                </a:solidFill>
                <a:latin typeface="JetBrains Mono" pitchFamily="49" charset="0"/>
                <a:ea typeface="JetBrains Mono" pitchFamily="49" charset="-122"/>
                <a:cs typeface="JetBrains Mono" pitchFamily="49" charset="-120"/>
              </a:rPr>
              <a:t>THANK YOU</a:t>
            </a:r>
            <a:endParaRPr lang="en-US" sz="1200" dirty="0"/>
          </a:p>
        </p:txBody>
      </p:sp>
      <p:sp>
        <p:nvSpPr>
          <p:cNvPr id="4" name="Text 2"/>
          <p:cNvSpPr>
            <a:spLocks noGrp="1"/>
          </p:cNvSpPr>
          <p:nvPr>
            <p:ph type="title"/>
          </p:nvPr>
        </p:nvSpPr>
        <p:spPr>
          <a:xfrm>
            <a:off x="812800" y="2832199"/>
            <a:ext cx="10883392" cy="695920"/>
          </a:xfrm>
          <a:prstGeom prst="rect">
            <a:avLst/>
          </a:prstGeom>
          <a:noFill/>
          <a:ln/>
        </p:spPr>
        <p:txBody>
          <a:bodyPr wrap="square" lIns="0" tIns="0" rIns="0" bIns="0" rtlCol="0" anchor="t">
            <a:normAutofit/>
          </a:bodyPr>
          <a:lstStyle/>
          <a:p>
            <a:pPr marL="0" indent="0" algn="ctr">
              <a:lnSpc>
                <a:spcPts val="5280"/>
              </a:lnSpc>
              <a:buNone/>
            </a:pPr>
            <a:r>
              <a:rPr lang="en-US" sz="4800" b="1" i="0" dirty="0">
                <a:solidFill>
                  <a:srgbClr val="F5F3EC"/>
                </a:solidFill>
                <a:latin typeface="IBM Plex Sans" pitchFamily="34" charset="0"/>
                <a:ea typeface="IBM Plex Sans" pitchFamily="34" charset="-122"/>
                <a:cs typeface="IBM Plex Sans" pitchFamily="34" charset="-120"/>
              </a:rPr>
              <a:t>Thank You </a:t>
            </a:r>
            <a:endParaRPr lang="en-US" sz="4800" dirty="0"/>
          </a:p>
        </p:txBody>
      </p:sp>
      <p:sp>
        <p:nvSpPr>
          <p:cNvPr id="5" name="Text 3"/>
          <p:cNvSpPr/>
          <p:nvPr/>
        </p:nvSpPr>
        <p:spPr>
          <a:xfrm>
            <a:off x="812800" y="3705920"/>
            <a:ext cx="10883392" cy="309860"/>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sp>
        <p:nvSpPr>
          <p:cNvPr id="6" name="Text 4"/>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endParaRPr lang="en-US" sz="1400" dirty="0"/>
          </a:p>
        </p:txBody>
      </p:sp>
    </p:spTree>
  </p:cSld>
  <p:clrMapOvr>
    <a:masterClrMapping/>
  </p:clrMapOvr>
</p:sld>
</file>

<file path=ppt/theme/theme1.xml><?xml version="1.0" encoding="utf-8"?>
<a:theme xmlns:a="http://schemas.openxmlformats.org/drawingml/2006/main" name="Playwright Learnings and Capstone Framework">
  <a:themeElements>
    <a:clrScheme name="Playwright Learnings and Capstone Framework">
      <a:dk1>
        <a:srgbClr val="1B2420"/>
      </a:dk1>
      <a:lt1>
        <a:srgbClr val="F5F3EC"/>
      </a:lt1>
      <a:dk2>
        <a:srgbClr val="525853"/>
      </a:dk2>
      <a:lt2>
        <a:srgbClr val="DFDED8"/>
      </a:lt2>
      <a:accent1>
        <a:srgbClr val="1F7A35"/>
      </a:accent1>
      <a:accent2>
        <a:srgbClr val="4CC264"/>
      </a:accent2>
      <a:accent3>
        <a:srgbClr val="F2B84B"/>
      </a:accent3>
      <a:accent4>
        <a:srgbClr val="5B6660"/>
      </a:accent4>
      <a:accent5>
        <a:srgbClr val="A9BDB5"/>
      </a:accent5>
      <a:accent6>
        <a:srgbClr val="8FA39A"/>
      </a:accent6>
      <a:hlink>
        <a:srgbClr val="0563C1"/>
      </a:hlink>
      <a:folHlink>
        <a:srgbClr val="954F72"/>
      </a:folHlink>
    </a:clrScheme>
    <a:fontScheme name="Playwright Learnings and Capstone Framework">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1258</Words>
  <Application>Microsoft Office PowerPoint</Application>
  <PresentationFormat>Widescreen</PresentationFormat>
  <Paragraphs>188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IBM Plex Sans</vt:lpstr>
      <vt:lpstr>Arial</vt:lpstr>
      <vt:lpstr>JetBrains Mono</vt:lpstr>
      <vt:lpstr>Playwright Learnings and Capstone Framework</vt:lpstr>
      <vt:lpstr>Playwright Learnings and the Capstone Framework</vt:lpstr>
      <vt:lpstr>Why Playwright</vt:lpstr>
      <vt:lpstr>Core concepts I learned</vt:lpstr>
      <vt:lpstr>What the brief asks us to cover</vt:lpstr>
      <vt:lpstr>Framework structure</vt:lpstr>
      <vt:lpstr>Layered architecture</vt:lpstr>
      <vt:lpstr>Locator strategy</vt:lpstr>
      <vt:lpstr>The automated test suite</vt:lpstr>
      <vt:lpstr>Reporting and debugging</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Playwright Learnings and Capstone Framework</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Vennela Vangapally</cp:lastModifiedBy>
  <cp:revision>4</cp:revision>
  <dcterms:created xsi:type="dcterms:W3CDTF">2026-10-23T05:12:39Z</dcterms:created>
  <dcterms:modified xsi:type="dcterms:W3CDTF">2026-10-23T05:36:02Z</dcterms:modified>
</cp:coreProperties>
</file>